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5" r:id="rId1"/>
  </p:sldMasterIdLst>
  <p:notesMasterIdLst>
    <p:notesMasterId r:id="rId33"/>
  </p:notesMasterIdLst>
  <p:sldIdLst>
    <p:sldId id="256" r:id="rId2"/>
    <p:sldId id="362" r:id="rId3"/>
    <p:sldId id="376" r:id="rId4"/>
    <p:sldId id="383" r:id="rId5"/>
    <p:sldId id="402" r:id="rId6"/>
    <p:sldId id="384" r:id="rId7"/>
    <p:sldId id="379" r:id="rId8"/>
    <p:sldId id="400" r:id="rId9"/>
    <p:sldId id="401" r:id="rId10"/>
    <p:sldId id="382" r:id="rId11"/>
    <p:sldId id="387" r:id="rId12"/>
    <p:sldId id="385" r:id="rId13"/>
    <p:sldId id="386" r:id="rId14"/>
    <p:sldId id="388" r:id="rId15"/>
    <p:sldId id="390" r:id="rId16"/>
    <p:sldId id="389" r:id="rId17"/>
    <p:sldId id="399" r:id="rId18"/>
    <p:sldId id="411" r:id="rId19"/>
    <p:sldId id="393" r:id="rId20"/>
    <p:sldId id="395" r:id="rId21"/>
    <p:sldId id="396" r:id="rId22"/>
    <p:sldId id="397" r:id="rId23"/>
    <p:sldId id="398" r:id="rId24"/>
    <p:sldId id="405" r:id="rId25"/>
    <p:sldId id="404" r:id="rId26"/>
    <p:sldId id="406" r:id="rId27"/>
    <p:sldId id="408" r:id="rId28"/>
    <p:sldId id="410" r:id="rId29"/>
    <p:sldId id="409" r:id="rId30"/>
    <p:sldId id="407" r:id="rId31"/>
    <p:sldId id="296" r:id="rId3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2" pos="2902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126B"/>
    <a:srgbClr val="823A67"/>
    <a:srgbClr val="823884"/>
    <a:srgbClr val="EAD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94" autoAdjust="0"/>
    <p:restoredTop sz="77415" autoAdjust="0"/>
  </p:normalViewPr>
  <p:slideViewPr>
    <p:cSldViewPr snapToGrid="0" snapToObjects="1">
      <p:cViewPr>
        <p:scale>
          <a:sx n="70" d="100"/>
          <a:sy n="70" d="100"/>
        </p:scale>
        <p:origin x="-2196" y="-1080"/>
      </p:cViewPr>
      <p:guideLst>
        <p:guide orient="horz" pos="2160"/>
        <p:guide pos="290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  <a:cs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0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 dirty="0">
                <a:cs typeface="+mn-ea"/>
              </a:defRPr>
            </a:lvl1pPr>
          </a:lstStyle>
          <a:p>
            <a:pPr>
              <a:defRPr/>
            </a:pPr>
            <a:fld id="{6ACD3B30-542E-42FA-96D3-126D2659EF0E}" type="slidenum">
              <a:rPr lang="zh-CN" altLang="en-US"/>
              <a:t>‹#›</a:t>
            </a:fld>
            <a:endParaRPr lang="zh-CN" alt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4856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95910" y="1346835"/>
            <a:ext cx="8516620" cy="4829810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  <a:endParaRPr lang="en-US" noProof="1"/>
          </a:p>
        </p:txBody>
      </p:sp>
      <p:sp>
        <p:nvSpPr>
          <p:cNvPr id="7" name="TextBox 9"/>
          <p:cNvSpPr txBox="1">
            <a:spLocks noChangeArrowheads="1"/>
          </p:cNvSpPr>
          <p:nvPr userDrawn="1"/>
        </p:nvSpPr>
        <p:spPr bwMode="auto">
          <a:xfrm>
            <a:off x="7673975" y="6581775"/>
            <a:ext cx="1476375" cy="276225"/>
          </a:xfrm>
          <a:prstGeom prst="rect">
            <a:avLst/>
          </a:prstGeom>
          <a:solidFill>
            <a:srgbClr val="823884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D903A8AC-1401-49BC-A6EA-38B6CC474A6F}" type="slidenum">
              <a:rPr lang="en-US" altLang="zh-CN" sz="1200" smtClean="0">
                <a:solidFill>
                  <a:schemeClr val="bg1"/>
                </a:solidFill>
              </a:rPr>
              <a:pPr algn="ctr" eaLnBrk="1" hangingPunct="1">
                <a:defRPr/>
              </a:pPr>
              <a:t>‹#›</a:t>
            </a:fld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9" name="TextBox 12"/>
          <p:cNvSpPr txBox="1">
            <a:spLocks noChangeArrowheads="1"/>
          </p:cNvSpPr>
          <p:nvPr userDrawn="1"/>
        </p:nvSpPr>
        <p:spPr bwMode="auto">
          <a:xfrm>
            <a:off x="1764030" y="6581775"/>
            <a:ext cx="5910580" cy="276860"/>
          </a:xfrm>
          <a:prstGeom prst="rect">
            <a:avLst/>
          </a:prstGeom>
          <a:solidFill>
            <a:srgbClr val="5C12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eaLnBrk="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200" b="0" cap="none" dirty="0">
                <a:solidFill>
                  <a:schemeClr val="bg1"/>
                </a:solidFill>
                <a:latin typeface="Arial" charset="0"/>
                <a:ea typeface="Arial" charset="0"/>
              </a:rPr>
              <a:t>CVLab, NKU</a:t>
            </a:r>
            <a:endParaRPr lang="ko-KR" altLang="en-US" sz="1200" b="0" cap="none" dirty="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10" name="TextBox 13"/>
          <p:cNvSpPr txBox="1">
            <a:spLocks noChangeArrowheads="1"/>
          </p:cNvSpPr>
          <p:nvPr userDrawn="1"/>
        </p:nvSpPr>
        <p:spPr bwMode="auto">
          <a:xfrm>
            <a:off x="0" y="6581775"/>
            <a:ext cx="1829435" cy="276860"/>
          </a:xfrm>
          <a:prstGeom prst="rect">
            <a:avLst/>
          </a:prstGeom>
          <a:solidFill>
            <a:srgbClr val="98437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>
            <a:spAutoFit/>
          </a:bodyPr>
          <a:lstStyle/>
          <a:p>
            <a:pPr marL="0" indent="0" algn="ctr" defTabSz="914400" fontAlgn="base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DBFD22D8-DBB4-4330-997F-3CD611EF50A6}" type="datetime1">
              <a:rPr lang="en-US" altLang="ko-KR" sz="1200" b="0" cap="none" smtClean="0">
                <a:solidFill>
                  <a:schemeClr val="bg1"/>
                </a:solidFill>
                <a:latin typeface="Arial" charset="0"/>
                <a:ea typeface="Arial" charset="0"/>
              </a:rPr>
              <a:t>1/15/2019</a:t>
            </a:fld>
            <a:endParaRPr lang="ko-KR" altLang="en-US" sz="1200" b="0" cap="none" dirty="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95275" y="992505"/>
            <a:ext cx="8517255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n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9"/>
          <p:cNvSpPr/>
          <p:nvPr/>
        </p:nvSpPr>
        <p:spPr>
          <a:xfrm>
            <a:off x="254646" y="1087755"/>
            <a:ext cx="8639199" cy="1632585"/>
          </a:xfrm>
          <a:prstGeom prst="roundRect">
            <a:avLst/>
          </a:prstGeom>
          <a:solidFill>
            <a:srgbClr val="82388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/>
          </a:p>
        </p:txBody>
      </p:sp>
      <p:pic>
        <p:nvPicPr>
          <p:cNvPr id="5122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435" y="4966970"/>
            <a:ext cx="1939925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/>
          <p:cNvSpPr txBox="1">
            <a:spLocks/>
          </p:cNvSpPr>
          <p:nvPr/>
        </p:nvSpPr>
        <p:spPr bwMode="auto">
          <a:xfrm>
            <a:off x="290557" y="1580881"/>
            <a:ext cx="8603288" cy="64633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</a:rPr>
              <a:t>Paper Writing &amp; Response Letter</a:t>
            </a:r>
          </a:p>
        </p:txBody>
      </p:sp>
      <p:sp>
        <p:nvSpPr>
          <p:cNvPr id="3" name="矩形 2"/>
          <p:cNvSpPr/>
          <p:nvPr/>
        </p:nvSpPr>
        <p:spPr>
          <a:xfrm>
            <a:off x="2345676" y="3451107"/>
            <a:ext cx="44930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sz="2400" dirty="0">
                <a:latin typeface="+mn-lt"/>
                <a:ea typeface="微软雅黑 Light" panose="020B0502040204020203" pitchFamily="34" charset="-122"/>
              </a:rPr>
              <a:t>CVLab</a:t>
            </a:r>
          </a:p>
          <a:p>
            <a:pPr marL="0" indent="0" algn="ctr">
              <a:buNone/>
            </a:pPr>
            <a:r>
              <a:rPr lang="en-US" altLang="zh-CN" sz="2400" dirty="0">
                <a:latin typeface="+mn-lt"/>
                <a:ea typeface="微软雅黑 Light" panose="020B0502040204020203" pitchFamily="34" charset="-122"/>
              </a:rPr>
              <a:t>Nankai University</a:t>
            </a:r>
          </a:p>
        </p:txBody>
      </p:sp>
      <p:sp>
        <p:nvSpPr>
          <p:cNvPr id="21" name="矩形 20"/>
          <p:cNvSpPr/>
          <p:nvPr/>
        </p:nvSpPr>
        <p:spPr>
          <a:xfrm>
            <a:off x="4038205" y="4646062"/>
            <a:ext cx="1107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1/7/2019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353820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713984" y="1773782"/>
            <a:ext cx="767845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p"/>
              <a:defRPr/>
            </a:pPr>
            <a:r>
              <a:rPr lang="en-US" altLang="zh-CN" sz="2000" b="1" dirty="0"/>
              <a:t>Paper Writing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p"/>
              <a:defRPr/>
            </a:pP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Response Letter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p"/>
              <a:defRPr/>
            </a:pPr>
            <a:endParaRPr lang="en-US" altLang="zh-CN" sz="2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14526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50995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 smtClean="0"/>
              <a:t>Avoid too </a:t>
            </a:r>
            <a:r>
              <a:rPr lang="en-US" altLang="zh-CN" sz="2000" b="1" dirty="0"/>
              <a:t>many clauses</a:t>
            </a:r>
            <a:r>
              <a:rPr lang="en-US" altLang="zh-CN" sz="2000" dirty="0" smtClean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Class imbalance is a ...  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buSzPct val="60000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     It induces biased classification results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Class imbalance is a ... , which produces a biased result ...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buSzPct val="60000"/>
              <a:defRPr/>
            </a:pPr>
            <a:endParaRPr lang="en-US" altLang="zh-CN" sz="2000" dirty="0">
              <a:solidFill>
                <a:schemeClr val="accent5"/>
              </a:solidFill>
            </a:endParaRP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... focus on the imbalanced distribution of ... 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buSzPct val="60000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     Such distribution indicates a large gap ... 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... focus on the imbalanced distribution of ... , i.e., a large gap ...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105180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Consistent format</a:t>
            </a:r>
            <a:r>
              <a:rPr lang="en-US" altLang="zh-CN" sz="2000" dirty="0"/>
              <a:t>. </a:t>
            </a:r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Training/testing set </a:t>
            </a:r>
            <a:r>
              <a:rPr lang="en-US" altLang="zh-CN" sz="2000" dirty="0"/>
              <a:t>or</a:t>
            </a:r>
            <a:r>
              <a:rPr lang="en-US" altLang="zh-CN" sz="2000" dirty="0">
                <a:solidFill>
                  <a:srgbClr val="FF0000"/>
                </a:solidFill>
              </a:rPr>
              <a:t> train/test set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Figure~1 (recommended) </a:t>
            </a:r>
            <a:r>
              <a:rPr lang="en-US" altLang="zh-CN" sz="2000" dirty="0"/>
              <a:t>or</a:t>
            </a:r>
            <a:r>
              <a:rPr lang="en-US" altLang="zh-CN" sz="2000" dirty="0">
                <a:solidFill>
                  <a:srgbClr val="FF0000"/>
                </a:solidFill>
              </a:rPr>
              <a:t> Fig. ~1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Eq.~1 </a:t>
            </a:r>
            <a:r>
              <a:rPr lang="en-US" altLang="zh-CN" sz="2000" dirty="0"/>
              <a:t>or</a:t>
            </a:r>
            <a:r>
              <a:rPr lang="en-US" altLang="zh-CN" sz="2000" dirty="0">
                <a:solidFill>
                  <a:srgbClr val="FF0000"/>
                </a:solidFill>
              </a:rPr>
              <a:t> (1)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3884362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Tense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use current tense 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the SPBL model </a:t>
            </a:r>
            <a:r>
              <a:rPr lang="en-US" altLang="zh-CN" sz="2000" dirty="0">
                <a:solidFill>
                  <a:srgbClr val="FF0000"/>
                </a:solidFill>
              </a:rPr>
              <a:t>becomes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the SPBL model </a:t>
            </a:r>
            <a:r>
              <a:rPr lang="en-US" altLang="zh-CN" sz="2000" dirty="0">
                <a:solidFill>
                  <a:schemeClr val="accent5"/>
                </a:solidFill>
              </a:rPr>
              <a:t>will become ...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4188969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Punctuation at the end of equation</a:t>
            </a:r>
            <a:r>
              <a:rPr lang="en-US" altLang="zh-CN" sz="2000" dirty="0"/>
              <a:t>. </a:t>
            </a:r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If the equation is the end of the sentence use a period, otherwise use a comma.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endParaRPr lang="en-US" altLang="zh-CN" sz="2000" dirty="0">
              <a:solidFill>
                <a:schemeClr val="accent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344" y="3127041"/>
            <a:ext cx="5757520" cy="808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774" y="4275148"/>
            <a:ext cx="5591160" cy="951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932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Coherence and logic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In comparison</a:t>
            </a:r>
            <a:r>
              <a:rPr lang="en-US" altLang="zh-CN" sz="2000" dirty="0">
                <a:solidFill>
                  <a:srgbClr val="FF0000"/>
                </a:solidFill>
              </a:rPr>
              <a:t>, </a:t>
            </a:r>
            <a:r>
              <a:rPr lang="en-US" altLang="zh-CN" sz="2000" dirty="0"/>
              <a:t>the cost-sensitive based methods ... </a:t>
            </a:r>
            <a:r>
              <a:rPr lang="en-US" altLang="zh-CN" sz="2000" b="1" dirty="0">
                <a:solidFill>
                  <a:srgbClr val="FF0000"/>
                </a:solidFill>
              </a:rPr>
              <a:t>Different from them</a:t>
            </a:r>
            <a:r>
              <a:rPr lang="en-US" altLang="zh-CN" sz="2000" dirty="0">
                <a:solidFill>
                  <a:srgbClr val="FF0000"/>
                </a:solidFill>
              </a:rPr>
              <a:t>, </a:t>
            </a:r>
            <a:r>
              <a:rPr lang="en-US" altLang="zh-CN" sz="2000" dirty="0"/>
              <a:t>the ensemble-based methods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The cost-sensitive based methods ... The ensemble-based methods ...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buSzPct val="60000"/>
              <a:defRPr/>
            </a:pPr>
            <a:endParaRPr lang="en-US" altLang="zh-CN" sz="2000" dirty="0">
              <a:solidFill>
                <a:schemeClr val="accent5"/>
              </a:solidFill>
            </a:endParaRP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we empirically </a:t>
            </a:r>
            <a:r>
              <a:rPr lang="en-US" altLang="zh-CN" sz="2000" dirty="0">
                <a:solidFill>
                  <a:srgbClr val="FF0000"/>
                </a:solidFill>
              </a:rPr>
              <a:t>evaluate </a:t>
            </a:r>
            <a:r>
              <a:rPr lang="en-US" altLang="zh-CN" sz="2000" dirty="0"/>
              <a:t>and</a:t>
            </a:r>
            <a:r>
              <a:rPr lang="en-US" altLang="zh-CN" sz="2000" dirty="0">
                <a:solidFill>
                  <a:srgbClr val="FF0000"/>
                </a:solidFill>
              </a:rPr>
              <a:t> analyze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we empirically </a:t>
            </a:r>
            <a:r>
              <a:rPr lang="en-US" altLang="zh-CN" sz="2000" dirty="0">
                <a:solidFill>
                  <a:schemeClr val="accent5"/>
                </a:solidFill>
              </a:rPr>
              <a:t>analyze </a:t>
            </a:r>
            <a:r>
              <a:rPr lang="en-US" altLang="zh-CN" sz="2000" dirty="0"/>
              <a:t>and</a:t>
            </a:r>
            <a:r>
              <a:rPr lang="en-US" altLang="zh-CN" sz="2000" dirty="0">
                <a:solidFill>
                  <a:schemeClr val="accent5"/>
                </a:solidFill>
              </a:rPr>
              <a:t> evaluate ...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345487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More logical issues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Finally, we re-train </a:t>
            </a:r>
            <a:r>
              <a:rPr lang="en-US" altLang="zh-CN" sz="2000" dirty="0">
                <a:solidFill>
                  <a:srgbClr val="FF0000"/>
                </a:solidFill>
              </a:rPr>
              <a:t>the classifier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Finally, we re-train </a:t>
            </a:r>
            <a:r>
              <a:rPr lang="en-US" altLang="zh-CN" sz="2000" dirty="0">
                <a:solidFill>
                  <a:schemeClr val="accent5"/>
                </a:solidFill>
              </a:rPr>
              <a:t>an </a:t>
            </a:r>
            <a:r>
              <a:rPr lang="en-US" altLang="zh-CN" sz="2000" b="1" dirty="0">
                <a:solidFill>
                  <a:schemeClr val="accent5"/>
                </a:solidFill>
              </a:rPr>
              <a:t>SVM</a:t>
            </a:r>
            <a:r>
              <a:rPr lang="en-US" altLang="zh-CN" sz="2000" dirty="0">
                <a:solidFill>
                  <a:schemeClr val="accent5"/>
                </a:solidFill>
              </a:rPr>
              <a:t> classifier ...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buSzPct val="60000"/>
              <a:defRPr/>
            </a:pPr>
            <a:endParaRPr lang="en-US" altLang="zh-CN" sz="2000" dirty="0">
              <a:solidFill>
                <a:schemeClr val="accent5"/>
              </a:solidFill>
            </a:endParaRP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a random set which contains </a:t>
            </a:r>
            <a:r>
              <a:rPr lang="en-US" altLang="zh-CN" sz="2000" b="1" dirty="0">
                <a:solidFill>
                  <a:srgbClr val="FF0000"/>
                </a:solidFill>
              </a:rPr>
              <a:t>1/K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of the entire training set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a random set which contains </a:t>
            </a:r>
            <a:r>
              <a:rPr lang="en-US" altLang="zh-CN" sz="2000" b="1" dirty="0">
                <a:solidFill>
                  <a:schemeClr val="accent5"/>
                </a:solidFill>
              </a:rPr>
              <a:t>one-fifth</a:t>
            </a:r>
            <a:r>
              <a:rPr lang="en-US" altLang="zh-CN" sz="2000" dirty="0">
                <a:solidFill>
                  <a:schemeClr val="accent5"/>
                </a:solidFill>
              </a:rPr>
              <a:t> </a:t>
            </a:r>
            <a:r>
              <a:rPr lang="en-US" altLang="zh-CN" sz="2000" dirty="0"/>
              <a:t>of the entire training set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1819277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367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Be Concise, Clear, and Direct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Note in the early learning paces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A noticeable phenomenon is that in the early learning stage ...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buSzPct val="60000"/>
              <a:defRPr/>
            </a:pPr>
            <a:endParaRPr lang="en-US" altLang="zh-CN" sz="2000" dirty="0">
              <a:solidFill>
                <a:schemeClr val="accent5"/>
              </a:solidFill>
            </a:endParaRP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After initializing the parameters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As illustrated, after the parameter initialization step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endParaRPr lang="en-US" altLang="zh-CN" sz="2000" dirty="0">
              <a:solidFill>
                <a:schemeClr val="accent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6776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Be Concise, Clear, and Direct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A is calculated based on a trade-off of both B and C.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A is calculated based on B and C, for which there is a trade-off between these two items.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endParaRPr lang="en-US" altLang="zh-CN" sz="2000" dirty="0">
              <a:solidFill>
                <a:schemeClr val="accent5"/>
              </a:solidFill>
            </a:endParaRP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penalizing the classification errors with larger weights on the more complex categories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penalizing the loss with different weights to let the classifier pay more attention to complex categories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endParaRPr lang="en-US" altLang="zh-CN" sz="2000" dirty="0">
              <a:solidFill>
                <a:schemeClr val="accent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2067358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318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The first word of a sentence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chemeClr val="accent5"/>
                </a:solidFill>
              </a:rPr>
              <a:t>Wrong presentations</a:t>
            </a:r>
            <a:r>
              <a:rPr lang="en-US" altLang="zh-CN" sz="20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Not start a sentence with references, letters or formulas.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[49], [50] employ bagging to re-sample neighbor instances from minority classes.However, this data augmentation process might inherently produce information redundancy.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$\Phi$ denotes the ... 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$f(.)$ is the ...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1767086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Add references where needed</a:t>
            </a:r>
            <a:endParaRPr lang="en-US" altLang="zh-CN" sz="2000" dirty="0"/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According to </a:t>
            </a:r>
            <a:r>
              <a:rPr lang="en-US" altLang="zh-CN" sz="2000" dirty="0">
                <a:solidFill>
                  <a:srgbClr val="FF0000"/>
                </a:solidFill>
              </a:rPr>
              <a:t>empirical medical knowledge </a:t>
            </a:r>
            <a:r>
              <a:rPr lang="en-US" altLang="zh-CN" sz="2000" b="1" dirty="0">
                <a:solidFill>
                  <a:srgbClr val="FF0000"/>
                </a:solidFill>
              </a:rPr>
              <a:t>[5]</a:t>
            </a:r>
            <a:r>
              <a:rPr lang="en-US" altLang="zh-CN" sz="2000" dirty="0">
                <a:solidFill>
                  <a:srgbClr val="FF0000"/>
                </a:solidFill>
              </a:rPr>
              <a:t>, </a:t>
            </a:r>
            <a:r>
              <a:rPr lang="en-US" altLang="zh-CN" sz="2000" dirty="0"/>
              <a:t>some rare skin diseases ... , while some common skin diseases,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In this section, we briefly review </a:t>
            </a:r>
            <a:r>
              <a:rPr lang="en-US" altLang="zh-CN" sz="2000" dirty="0">
                <a:solidFill>
                  <a:srgbClr val="FF0000"/>
                </a:solidFill>
              </a:rPr>
              <a:t>the literature </a:t>
            </a:r>
            <a:r>
              <a:rPr lang="en-US" altLang="zh-CN" sz="2000" b="1" dirty="0">
                <a:solidFill>
                  <a:srgbClr val="FF0000"/>
                </a:solidFill>
              </a:rPr>
              <a:t>[25], [26] </a:t>
            </a:r>
            <a:r>
              <a:rPr lang="en-US" altLang="zh-CN" sz="2000" dirty="0"/>
              <a:t>of ...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3277960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The usage of `the’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the </a:t>
            </a:r>
            <a:r>
              <a:rPr lang="en-US" altLang="zh-CN" sz="2000" dirty="0"/>
              <a:t>SPL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the </a:t>
            </a:r>
            <a:r>
              <a:rPr lang="en-US" altLang="zh-CN" sz="2000" dirty="0"/>
              <a:t>sampling based, cost-sensitive based, and ensemble based methods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the </a:t>
            </a:r>
            <a:r>
              <a:rPr lang="en-US" altLang="zh-CN" sz="2000" dirty="0"/>
              <a:t>sampling based, </a:t>
            </a:r>
            <a:r>
              <a:rPr lang="en-US" altLang="zh-CN" sz="2000" dirty="0">
                <a:solidFill>
                  <a:schemeClr val="accent5"/>
                </a:solidFill>
              </a:rPr>
              <a:t>the </a:t>
            </a:r>
            <a:r>
              <a:rPr lang="en-US" altLang="zh-CN" sz="2000" dirty="0"/>
              <a:t>cost-sensitive based, and </a:t>
            </a:r>
            <a:r>
              <a:rPr lang="en-US" altLang="zh-CN" sz="2000" dirty="0">
                <a:solidFill>
                  <a:schemeClr val="accent5"/>
                </a:solidFill>
              </a:rPr>
              <a:t>the </a:t>
            </a:r>
            <a:r>
              <a:rPr lang="en-US" altLang="zh-CN" sz="2000" dirty="0"/>
              <a:t>ensemble based methods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sampling based, cost-sensitive based, and ensemble based methods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40"/>
          <a:stretch/>
        </p:blipFill>
        <p:spPr bwMode="auto">
          <a:xfrm>
            <a:off x="694229" y="4413903"/>
            <a:ext cx="7743825" cy="2024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4895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Chinglish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the class imbalance problem is also critical in clinical skin disease recognition task.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it is critical that clinical skin disease recognition is treated as a class imbalance problem.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buSzPct val="60000"/>
              <a:defRPr/>
            </a:pPr>
            <a:endParaRPr lang="en-US" altLang="zh-CN" sz="2000" dirty="0">
              <a:solidFill>
                <a:schemeClr val="accent5"/>
              </a:solidFill>
            </a:endParaRP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This is because that ... during training.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This is because during the training phase ...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5888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Avoid ambiguity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We employ </a:t>
            </a:r>
            <a:r>
              <a:rPr lang="en-US" altLang="zh-CN" sz="2000" dirty="0">
                <a:solidFill>
                  <a:srgbClr val="FF0000"/>
                </a:solidFill>
              </a:rPr>
              <a:t>a</a:t>
            </a:r>
            <a:r>
              <a:rPr lang="en-US" altLang="zh-CN" sz="2000" b="1" dirty="0">
                <a:solidFill>
                  <a:srgbClr val="FF0000"/>
                </a:solidFill>
              </a:rPr>
              <a:t> weighted SVM </a:t>
            </a:r>
            <a:r>
              <a:rPr lang="en-US" altLang="zh-CN" sz="2000" dirty="0"/>
              <a:t>in this paper as the classifier, </a:t>
            </a:r>
            <a:r>
              <a:rPr lang="en-US" altLang="zh-CN" sz="2000" dirty="0">
                <a:solidFill>
                  <a:srgbClr val="FF0000"/>
                </a:solidFill>
              </a:rPr>
              <a:t>where we assign the penalty weight in Eq. 10 to each class before classification.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For the hinge loss, </a:t>
            </a:r>
            <a:r>
              <a:rPr lang="en-US" altLang="zh-CN" sz="2000" dirty="0">
                <a:solidFill>
                  <a:schemeClr val="accent5"/>
                </a:solidFill>
              </a:rPr>
              <a:t>the standard </a:t>
            </a:r>
            <a:r>
              <a:rPr lang="en-US" altLang="zh-CN" sz="2000" b="1" dirty="0">
                <a:solidFill>
                  <a:schemeClr val="accent5"/>
                </a:solidFill>
              </a:rPr>
              <a:t>weighted SVM</a:t>
            </a:r>
            <a:r>
              <a:rPr lang="en-US" altLang="zh-CN" sz="2000" dirty="0"/>
              <a:t> in the one-vs-rest scheme can be employed ...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1020606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Better presentation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655575" y="2146607"/>
            <a:ext cx="3371443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(1) ... (2) ... (3) ... 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Fig.~1~(a)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$L_1$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$||$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A, but B 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negative influence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contrast methods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firstly, secondly, thirdly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often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759901" y="2146607"/>
            <a:ext cx="353283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1) ... 2) ... 3)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Fig.~1(a)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$\ell_1$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$\</a:t>
            </a:r>
            <a:r>
              <a:rPr lang="en-US" altLang="zh-CN" sz="2000" dirty="0" err="1">
                <a:solidFill>
                  <a:srgbClr val="FF0000"/>
                </a:solidFill>
              </a:rPr>
              <a:t>lVert</a:t>
            </a:r>
            <a:r>
              <a:rPr lang="en-US" altLang="zh-CN" sz="2000" dirty="0">
                <a:solidFill>
                  <a:srgbClr val="FF0000"/>
                </a:solidFill>
              </a:rPr>
              <a:t> X – XZ \</a:t>
            </a:r>
            <a:r>
              <a:rPr lang="en-US" altLang="zh-CN" sz="2000" dirty="0" err="1">
                <a:solidFill>
                  <a:srgbClr val="FF0000"/>
                </a:solidFill>
              </a:rPr>
              <a:t>rVert</a:t>
            </a:r>
            <a:r>
              <a:rPr lang="en-US" altLang="zh-CN" sz="2000" dirty="0">
                <a:solidFill>
                  <a:srgbClr val="FF0000"/>
                </a:solidFill>
              </a:rPr>
              <a:t>$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A yet B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negative impact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 smtClean="0">
                <a:solidFill>
                  <a:srgbClr val="FF0000"/>
                </a:solidFill>
              </a:rPr>
              <a:t>comparative </a:t>
            </a:r>
            <a:r>
              <a:rPr lang="en-US" altLang="zh-CN" sz="2000" dirty="0">
                <a:solidFill>
                  <a:srgbClr val="FF0000"/>
                </a:solidFill>
              </a:rPr>
              <a:t>methods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first, second, third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usually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755" y="2987729"/>
            <a:ext cx="404813" cy="37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483" y="3021067"/>
            <a:ext cx="3048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451" y="3393383"/>
            <a:ext cx="1132071" cy="44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6104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Better presentation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it relies heavily on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it is heavily reliant on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we experimentally demonstrate the effectiveness of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we design comprehensive experiments to demonstrate the effectiveness of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... methods</a:t>
            </a:r>
            <a:r>
              <a:rPr lang="en-US" altLang="zh-CN" sz="2000" dirty="0"/>
              <a:t>. Among them, the sampling-based</a:t>
            </a:r>
            <a:r>
              <a:rPr lang="en-US" altLang="zh-CN" sz="2000" dirty="0">
                <a:solidFill>
                  <a:srgbClr val="FF0000"/>
                </a:solidFill>
              </a:rPr>
              <a:t> ones attempt to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... methods</a:t>
            </a:r>
            <a:r>
              <a:rPr lang="en-US" altLang="zh-CN" sz="2000" dirty="0"/>
              <a:t>. Among them, the sampling-based</a:t>
            </a:r>
            <a:r>
              <a:rPr lang="en-US" altLang="zh-CN" sz="2000" dirty="0">
                <a:solidFill>
                  <a:schemeClr val="accent5"/>
                </a:solidFill>
              </a:rPr>
              <a:t> methods try to ...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... may add redundant noisy data or lose the informative training samples.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chemeClr val="accent5"/>
                </a:solidFill>
              </a:rPr>
              <a:t>... may cause redundancy of noisy data or the loss of informative samples.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</p:spTree>
    <p:extLst>
      <p:ext uri="{BB962C8B-B14F-4D97-AF65-F5344CB8AC3E}">
        <p14:creationId xmlns:p14="http://schemas.microsoft.com/office/powerpoint/2010/main" val="3808902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Space</a:t>
            </a:r>
            <a:r>
              <a:rPr lang="en-US" altLang="zh-CN" sz="2000" dirty="0"/>
              <a:t>. </a:t>
            </a:r>
            <a:r>
              <a:rPr lang="en-US" altLang="zh-CN" sz="2000" dirty="0">
                <a:solidFill>
                  <a:srgbClr val="FF0000"/>
                </a:solidFill>
              </a:rPr>
              <a:t>Good presentations</a:t>
            </a:r>
            <a:r>
              <a:rPr lang="en-US" altLang="zh-CN" sz="2000" dirty="0"/>
              <a:t>, </a:t>
            </a:r>
            <a:r>
              <a:rPr lang="en-US" altLang="zh-CN" sz="2000" dirty="0">
                <a:solidFill>
                  <a:schemeClr val="accent5"/>
                </a:solidFill>
              </a:rPr>
              <a:t>Poor presentations</a:t>
            </a:r>
            <a:r>
              <a:rPr lang="en-US" altLang="zh-CN" sz="2000" dirty="0"/>
              <a:t>.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n-US" altLang="zh-CN" sz="2000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If there is a </a:t>
            </a:r>
            <a:r>
              <a:rPr lang="en-US" altLang="zh-CN" sz="2000" dirty="0">
                <a:solidFill>
                  <a:srgbClr val="FF0000"/>
                </a:solidFill>
              </a:rPr>
              <a:t>unusual space</a:t>
            </a:r>
            <a:r>
              <a:rPr lang="en-US" altLang="zh-CN" sz="2000" dirty="0"/>
              <a:t> appear in the </a:t>
            </a:r>
            <a:r>
              <a:rPr lang="en-US" altLang="zh-CN" sz="2000" dirty="0">
                <a:solidFill>
                  <a:srgbClr val="FF0000"/>
                </a:solidFill>
              </a:rPr>
              <a:t>ICCV19 latex template</a:t>
            </a:r>
            <a:r>
              <a:rPr lang="en-US" altLang="zh-CN" sz="2000" dirty="0"/>
              <a:t>, try to add a </a:t>
            </a:r>
            <a:r>
              <a:rPr lang="en-US" altLang="zh-CN" sz="2000" b="1" dirty="0">
                <a:solidFill>
                  <a:srgbClr val="FF0000"/>
                </a:solidFill>
              </a:rPr>
              <a:t>`%’</a:t>
            </a:r>
            <a:r>
              <a:rPr lang="en-US" altLang="zh-CN" sz="2000" dirty="0"/>
              <a:t> after the end of </a:t>
            </a:r>
            <a:r>
              <a:rPr lang="en-US" altLang="zh-CN" sz="2000" dirty="0">
                <a:solidFill>
                  <a:srgbClr val="FF0000"/>
                </a:solidFill>
              </a:rPr>
              <a:t>figure</a:t>
            </a:r>
            <a:r>
              <a:rPr lang="en-US" altLang="zh-CN" sz="2000" dirty="0"/>
              <a:t> command.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52665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Paper Writing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523"/>
          <a:stretch/>
        </p:blipFill>
        <p:spPr bwMode="auto">
          <a:xfrm>
            <a:off x="790215" y="4478369"/>
            <a:ext cx="2314575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445" y="5097494"/>
            <a:ext cx="175260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15" y="3377432"/>
            <a:ext cx="231457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445" y="3844157"/>
            <a:ext cx="1809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4780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353820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713984" y="1773782"/>
            <a:ext cx="7678453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p"/>
              <a:defRPr/>
            </a:pP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Paper Writing</a:t>
            </a:r>
            <a:endParaRPr lang="en-US" altLang="zh-CN" sz="2000" b="1" dirty="0"/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p"/>
              <a:defRPr/>
            </a:pPr>
            <a:r>
              <a:rPr lang="en-US" altLang="zh-CN" sz="2000" b="1" dirty="0"/>
              <a:t>Response Letter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p"/>
              <a:defRPr/>
            </a:pPr>
            <a:endParaRPr lang="en-US" altLang="zh-CN" sz="2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14526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103523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Summarize the RL</a:t>
            </a:r>
            <a:r>
              <a:rPr lang="en-US" altLang="zh-CN" sz="2000" dirty="0"/>
              <a:t>. 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List the major changes of the revised version.</a:t>
            </a:r>
            <a:endParaRPr lang="en-US" altLang="zh-CN" sz="2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908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Response Letter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88" y="2396840"/>
            <a:ext cx="7671707" cy="3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928318" y="5488857"/>
            <a:ext cx="5195092" cy="404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buSzPct val="60000"/>
              <a:defRPr/>
            </a:pPr>
            <a:r>
              <a:rPr lang="en-US" altLang="zh-CN" sz="2000" dirty="0"/>
              <a:t>...</a:t>
            </a:r>
          </a:p>
        </p:txBody>
      </p:sp>
      <p:sp>
        <p:nvSpPr>
          <p:cNvPr id="10" name="矩形 9"/>
          <p:cNvSpPr/>
          <p:nvPr/>
        </p:nvSpPr>
        <p:spPr>
          <a:xfrm>
            <a:off x="928318" y="4835046"/>
            <a:ext cx="299233" cy="1058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177978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Reply to each reviewer separately. 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Add a extra line after each paragraph for better looks.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908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Response Letter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08" y="2410672"/>
            <a:ext cx="8010003" cy="1767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07" y="4212455"/>
            <a:ext cx="7920655" cy="1621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690709" y="2467628"/>
            <a:ext cx="1351034" cy="3256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90707" y="4212455"/>
            <a:ext cx="1351034" cy="3256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41898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404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Summarize the comment.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908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Response Letter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34" y="2081225"/>
            <a:ext cx="8467840" cy="4344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563671" y="2617940"/>
            <a:ext cx="2968669" cy="3256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81307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4" y="1493055"/>
            <a:ext cx="843001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Clear the sentence modification process. 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Use italic to denote the comments, original manuscript, and revised sentences.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n-US" altLang="zh-CN" sz="2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908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Response Letter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99" y="2788237"/>
            <a:ext cx="8007510" cy="3681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616800" y="3795386"/>
            <a:ext cx="2452078" cy="3256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6758" y="5386192"/>
            <a:ext cx="2452078" cy="3256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52079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3" y="1493055"/>
            <a:ext cx="8521621" cy="820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Take every comments and </a:t>
            </a:r>
            <a:r>
              <a:rPr lang="en-US" altLang="zh-CN" sz="2000" b="1" dirty="0">
                <a:solidFill>
                  <a:srgbClr val="FF0000"/>
                </a:solidFill>
              </a:rPr>
              <a:t>suggestions</a:t>
            </a:r>
            <a:r>
              <a:rPr lang="en-US" altLang="zh-CN" sz="2000" b="1" dirty="0"/>
              <a:t> of the reviewers seriously.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n-US" altLang="zh-CN" sz="20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908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Response Letter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40" y="3939169"/>
            <a:ext cx="7988540" cy="1685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196" y="2431105"/>
            <a:ext cx="8579559" cy="150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直接连接符 12"/>
          <p:cNvCxnSpPr/>
          <p:nvPr/>
        </p:nvCxnSpPr>
        <p:spPr>
          <a:xfrm>
            <a:off x="411167" y="3047930"/>
            <a:ext cx="290353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76040" y="3964583"/>
            <a:ext cx="7988540" cy="16477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045907" y="2727890"/>
            <a:ext cx="473524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19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3" y="1493055"/>
            <a:ext cx="852162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In most cases, </a:t>
            </a:r>
            <a:r>
              <a:rPr lang="en-US" altLang="zh-CN" sz="2000" b="1" dirty="0" smtClean="0"/>
              <a:t>satisfying reviewers </a:t>
            </a:r>
            <a:r>
              <a:rPr lang="en-US" altLang="zh-CN" sz="2000" b="1" dirty="0"/>
              <a:t>instead of arguing with </a:t>
            </a:r>
            <a:r>
              <a:rPr lang="en-US" altLang="zh-CN" sz="2000" b="1" dirty="0" smtClean="0"/>
              <a:t>them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n-US" altLang="zh-CN" sz="2000" b="1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When the reviewer makes an opinion on a certain issue, even if the reviewer's understanding is biased, it is generally because we did not clearly explain the problem in the manuscript.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908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Response Letter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13" y="3812183"/>
            <a:ext cx="8359660" cy="60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75" y="4583357"/>
            <a:ext cx="8405898" cy="1651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直接连接符 8"/>
          <p:cNvCxnSpPr/>
          <p:nvPr/>
        </p:nvCxnSpPr>
        <p:spPr>
          <a:xfrm>
            <a:off x="432113" y="6232530"/>
            <a:ext cx="7416487" cy="261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226300" y="5968440"/>
            <a:ext cx="154007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78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3" y="1493055"/>
            <a:ext cx="8521621" cy="2508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The response of comments.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n-US" altLang="zh-CN" sz="2000" b="1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Explain in RL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Explain in RL + Revise the manuscript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Explain in RL + Revise the manuscript + Supplement experiment 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908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Response Letter</a:t>
            </a:r>
          </a:p>
        </p:txBody>
      </p:sp>
    </p:spTree>
    <p:extLst>
      <p:ext uri="{BB962C8B-B14F-4D97-AF65-F5344CB8AC3E}">
        <p14:creationId xmlns:p14="http://schemas.microsoft.com/office/powerpoint/2010/main" val="3490480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3" y="1493055"/>
            <a:ext cx="8521621" cy="167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The response of comments.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Explain in RL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normal questions (e.g., novelty, parameter setting)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advantages to some methods (no code)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908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Response Letter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33" y="3205618"/>
            <a:ext cx="8450551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40" y="4590424"/>
            <a:ext cx="8392526" cy="56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64" y="5153208"/>
            <a:ext cx="8416586" cy="144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7318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3" y="1493055"/>
            <a:ext cx="8521621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The response of comments.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Explain in RL + Revise the manuscript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not clearly described in the manuscript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extension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minor issues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908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Response Letter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8" y="3845564"/>
            <a:ext cx="8739930" cy="937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4872040"/>
            <a:ext cx="8557422" cy="1185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7318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3" y="1493055"/>
            <a:ext cx="8521621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The response of comments.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Explain in RL + Revise the manuscript + Supplement experiment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rationality of experimental results (e.g., the training/testing split)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extend to other problems/datasets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/>
              <a:t>more compared methods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buSzPct val="60000"/>
              <a:defRPr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908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Response Letter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27" y="3654239"/>
            <a:ext cx="8039282" cy="58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51" y="4236602"/>
            <a:ext cx="7932573" cy="74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47" y="5039159"/>
            <a:ext cx="7991658" cy="1382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7318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5" y="1516658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9C9350B-D4BD-43BE-B222-B4F7E7BF7628}"/>
              </a:ext>
            </a:extLst>
          </p:cNvPr>
          <p:cNvSpPr/>
          <p:nvPr/>
        </p:nvSpPr>
        <p:spPr>
          <a:xfrm>
            <a:off x="351133" y="1493055"/>
            <a:ext cx="8521621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r>
              <a:rPr lang="en-US" altLang="zh-CN" sz="2000" b="1" dirty="0"/>
              <a:t>The tone of comments.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/>
            </a:pPr>
            <a:endParaRPr lang="en-US" altLang="zh-CN" sz="2000" b="1" dirty="0"/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Reviewer 1’s positive comments </a:t>
            </a:r>
            <a:r>
              <a:rPr lang="en-US" altLang="zh-CN" sz="2000" dirty="0"/>
              <a:t>may be an important basis for responsing to </a:t>
            </a:r>
            <a:r>
              <a:rPr lang="en-US" altLang="zh-CN" sz="2000" dirty="0">
                <a:solidFill>
                  <a:srgbClr val="FF0000"/>
                </a:solidFill>
              </a:rPr>
              <a:t>Reviewer 2’s question</a:t>
            </a:r>
            <a:r>
              <a:rPr lang="en-US" altLang="zh-CN" sz="2000" dirty="0"/>
              <a:t>.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buSzPct val="60000"/>
              <a:buFont typeface="Wingdings" pitchFamily="2" charset="2"/>
              <a:buChar char="l"/>
              <a:defRPr/>
            </a:pP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B889CE37-EF55-451A-A824-FA09E3EEB5EE}"/>
              </a:ext>
            </a:extLst>
          </p:cNvPr>
          <p:cNvSpPr/>
          <p:nvPr/>
        </p:nvSpPr>
        <p:spPr>
          <a:xfrm>
            <a:off x="491498" y="733415"/>
            <a:ext cx="2908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7030A0"/>
                </a:solidFill>
                <a:latin typeface="Calibri" panose="020F0502020204030204" pitchFamily="34" charset="0"/>
              </a:rPr>
              <a:t>Response Letter</a:t>
            </a:r>
          </a:p>
        </p:txBody>
      </p:sp>
    </p:spTree>
    <p:extLst>
      <p:ext uri="{BB962C8B-B14F-4D97-AF65-F5344CB8AC3E}">
        <p14:creationId xmlns:p14="http://schemas.microsoft.com/office/powerpoint/2010/main" val="364190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1412875"/>
            <a:ext cx="6572250" cy="492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23" name="组合 2"/>
          <p:cNvGrpSpPr/>
          <p:nvPr/>
        </p:nvGrpSpPr>
        <p:grpSpPr bwMode="auto">
          <a:xfrm>
            <a:off x="2484755" y="2060575"/>
            <a:ext cx="4883150" cy="2592070"/>
            <a:chOff x="2484755" y="2060575"/>
            <a:chExt cx="4883150" cy="2592070"/>
          </a:xfrm>
        </p:grpSpPr>
        <p:sp>
          <p:nvSpPr>
            <p:cNvPr id="30724" name="文本框 3"/>
            <p:cNvSpPr txBox="1">
              <a:spLocks noChangeArrowheads="1"/>
            </p:cNvSpPr>
            <p:nvPr/>
          </p:nvSpPr>
          <p:spPr bwMode="auto">
            <a:xfrm>
              <a:off x="2938145" y="2854044"/>
              <a:ext cx="4429760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6000" b="1" i="1" dirty="0">
                  <a:solidFill>
                    <a:srgbClr val="823884"/>
                  </a:solidFill>
                </a:rPr>
                <a:t>The End!</a:t>
              </a:r>
            </a:p>
          </p:txBody>
        </p:sp>
        <p:grpSp>
          <p:nvGrpSpPr>
            <p:cNvPr id="30725" name="组合 4"/>
            <p:cNvGrpSpPr/>
            <p:nvPr/>
          </p:nvGrpSpPr>
          <p:grpSpPr bwMode="auto">
            <a:xfrm>
              <a:off x="2484755" y="2060575"/>
              <a:ext cx="2138045" cy="180975"/>
              <a:chOff x="2484755" y="2060575"/>
              <a:chExt cx="2138045" cy="180975"/>
            </a:xfrm>
          </p:grpSpPr>
          <p:cxnSp>
            <p:nvCxnSpPr>
              <p:cNvPr id="30729" name="直接连接符 4"/>
              <p:cNvCxnSpPr>
                <a:cxnSpLocks noChangeShapeType="1"/>
              </p:cNvCxnSpPr>
              <p:nvPr/>
            </p:nvCxnSpPr>
            <p:spPr bwMode="auto">
              <a:xfrm>
                <a:off x="2484755" y="2142490"/>
                <a:ext cx="1995805" cy="0"/>
              </a:xfrm>
              <a:prstGeom prst="line">
                <a:avLst/>
              </a:prstGeom>
              <a:noFill/>
              <a:ln w="9525">
                <a:solidFill>
                  <a:srgbClr val="5C126B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0730" name="椭圆 5"/>
              <p:cNvSpPr>
                <a:spLocks noChangeArrowheads="1"/>
              </p:cNvSpPr>
              <p:nvPr/>
            </p:nvSpPr>
            <p:spPr bwMode="auto">
              <a:xfrm>
                <a:off x="4460875" y="2060575"/>
                <a:ext cx="161925" cy="180975"/>
              </a:xfrm>
              <a:prstGeom prst="ellipse">
                <a:avLst/>
              </a:prstGeom>
              <a:solidFill>
                <a:srgbClr val="5C12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5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726" name="组合 5"/>
            <p:cNvGrpSpPr/>
            <p:nvPr/>
          </p:nvGrpSpPr>
          <p:grpSpPr bwMode="auto">
            <a:xfrm rot="10800000">
              <a:off x="4622800" y="4471670"/>
              <a:ext cx="2138045" cy="180975"/>
              <a:chOff x="4622800" y="4471670"/>
              <a:chExt cx="2138045" cy="180975"/>
            </a:xfrm>
          </p:grpSpPr>
          <p:cxnSp>
            <p:nvCxnSpPr>
              <p:cNvPr id="30727" name="直接连接符 4"/>
              <p:cNvCxnSpPr>
                <a:cxnSpLocks noChangeShapeType="1"/>
              </p:cNvCxnSpPr>
              <p:nvPr/>
            </p:nvCxnSpPr>
            <p:spPr bwMode="auto">
              <a:xfrm>
                <a:off x="4765040" y="4570095"/>
                <a:ext cx="1995805" cy="0"/>
              </a:xfrm>
              <a:prstGeom prst="line">
                <a:avLst/>
              </a:prstGeom>
              <a:noFill/>
              <a:ln w="9525">
                <a:solidFill>
                  <a:srgbClr val="5C126B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0728" name="椭圆 5"/>
              <p:cNvSpPr>
                <a:spLocks noChangeArrowheads="1"/>
              </p:cNvSpPr>
              <p:nvPr/>
            </p:nvSpPr>
            <p:spPr bwMode="auto">
              <a:xfrm>
                <a:off x="4622165" y="4471670"/>
                <a:ext cx="161925" cy="180975"/>
              </a:xfrm>
              <a:prstGeom prst="ellipse">
                <a:avLst/>
              </a:prstGeom>
              <a:solidFill>
                <a:srgbClr val="5C12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en-US" sz="1500"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主题2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5186</TotalTime>
  <Pages>19</Pages>
  <Words>1122</Words>
  <Characters>0</Characters>
  <Application>Microsoft Office PowerPoint</Application>
  <DocSecurity>0</DocSecurity>
  <PresentationFormat>全屏显示(4:3)</PresentationFormat>
  <Lines>0</Lines>
  <Paragraphs>179</Paragraphs>
  <Slides>31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2" baseType="lpstr">
      <vt:lpstr>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Discovering Affective Regions In Deep Convolutional Neural Networks For  Visual Sentiment Prediction</dc:title>
  <dc:creator>msunming</dc:creator>
  <cp:lastModifiedBy>WXP</cp:lastModifiedBy>
  <cp:revision>466</cp:revision>
  <dcterms:modified xsi:type="dcterms:W3CDTF">2019-01-15T12:56:49Z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2052-10.1.0.6391</vt:lpwstr>
  </property>
</Properties>
</file>