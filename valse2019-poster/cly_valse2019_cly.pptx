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51120675" cy="35999738"/>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11402">
          <p15:clr>
            <a:srgbClr val="A4A3A4"/>
          </p15:clr>
        </p15:guide>
        <p15:guide id="2" pos="1614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6C01"/>
    <a:srgbClr val="5AC2EE"/>
    <a:srgbClr val="0262AF"/>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94"/>
  </p:normalViewPr>
  <p:slideViewPr>
    <p:cSldViewPr showGuides="1">
      <p:cViewPr>
        <p:scale>
          <a:sx n="25" d="100"/>
          <a:sy n="25" d="100"/>
        </p:scale>
        <p:origin x="162" y="18"/>
      </p:cViewPr>
      <p:guideLst>
        <p:guide orient="horz" pos="11402"/>
        <p:guide pos="16146"/>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302871-DB14-455D-9070-AD2691CFD9D9}" type="datetimeFigureOut">
              <a:rPr lang="zh-CN" altLang="en-US" smtClean="0"/>
              <a:t>2019/4/8</a:t>
            </a:fld>
            <a:endParaRPr lang="zh-CN" altLang="en-US"/>
          </a:p>
        </p:txBody>
      </p:sp>
      <p:sp>
        <p:nvSpPr>
          <p:cNvPr id="4" name="幻灯片图像占位符 3"/>
          <p:cNvSpPr>
            <a:spLocks noGrp="1" noRot="1" noChangeAspect="1"/>
          </p:cNvSpPr>
          <p:nvPr>
            <p:ph type="sldImg" idx="2"/>
          </p:nvPr>
        </p:nvSpPr>
        <p:spPr>
          <a:xfrm>
            <a:off x="995363" y="685800"/>
            <a:ext cx="486727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966CBA-8658-4C55-94C1-48641710BFF7}" type="slidenum">
              <a:rPr lang="zh-CN" altLang="en-US" smtClean="0"/>
              <a:t>‹#›</a:t>
            </a:fld>
            <a:endParaRPr lang="zh-CN" altLang="en-US"/>
          </a:p>
        </p:txBody>
      </p:sp>
    </p:spTree>
    <p:extLst>
      <p:ext uri="{BB962C8B-B14F-4D97-AF65-F5344CB8AC3E}">
        <p14:creationId xmlns:p14="http://schemas.microsoft.com/office/powerpoint/2010/main" val="3650404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966CBA-8658-4C55-94C1-48641710BFF7}" type="slidenum">
              <a:rPr lang="zh-CN" altLang="en-US" smtClean="0"/>
              <a:t>1</a:t>
            </a:fld>
            <a:endParaRPr lang="zh-CN" altLang="en-US"/>
          </a:p>
        </p:txBody>
      </p:sp>
    </p:spTree>
    <p:extLst>
      <p:ext uri="{BB962C8B-B14F-4D97-AF65-F5344CB8AC3E}">
        <p14:creationId xmlns:p14="http://schemas.microsoft.com/office/powerpoint/2010/main" val="121793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834051" y="5891626"/>
            <a:ext cx="43452574" cy="12533242"/>
          </a:xfrm>
        </p:spPr>
        <p:txBody>
          <a:bodyPr anchor="b"/>
          <a:lstStyle>
            <a:lvl1pPr algn="ctr">
              <a:defRPr sz="31495"/>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6390085" y="18908198"/>
            <a:ext cx="38340506" cy="8691601"/>
          </a:xfrm>
        </p:spPr>
        <p:txBody>
          <a:bodyPr/>
          <a:lstStyle>
            <a:lvl1pPr marL="0" indent="0" algn="ctr">
              <a:buNone/>
              <a:defRPr sz="12600"/>
            </a:lvl1pPr>
            <a:lvl2pPr marL="2399665" indent="0" algn="ctr">
              <a:buNone/>
              <a:defRPr sz="10500"/>
            </a:lvl2pPr>
            <a:lvl3pPr marL="4799965" indent="0" algn="ctr">
              <a:buNone/>
              <a:defRPr sz="9450"/>
            </a:lvl3pPr>
            <a:lvl4pPr marL="7199630" indent="0" algn="ctr">
              <a:buNone/>
              <a:defRPr sz="8400"/>
            </a:lvl4pPr>
            <a:lvl5pPr marL="9599930" indent="0" algn="ctr">
              <a:buNone/>
              <a:defRPr sz="8400"/>
            </a:lvl5pPr>
            <a:lvl6pPr marL="11999595" indent="0" algn="ctr">
              <a:buNone/>
              <a:defRPr sz="8400"/>
            </a:lvl6pPr>
            <a:lvl7pPr marL="14399895" indent="0" algn="ctr">
              <a:buNone/>
              <a:defRPr sz="8400"/>
            </a:lvl7pPr>
            <a:lvl8pPr marL="16799560" indent="0" algn="ctr">
              <a:buNone/>
              <a:defRPr sz="8400"/>
            </a:lvl8pPr>
            <a:lvl9pPr marL="19199860" indent="0" algn="ctr">
              <a:buNone/>
              <a:defRPr sz="8400"/>
            </a:lvl9pPr>
          </a:lstStyle>
          <a:p>
            <a:r>
              <a:rPr lang="zh-CN" altLang="en-US"/>
              <a:t>单击以编辑母版副标题样式</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487924" y="8974945"/>
            <a:ext cx="44091582" cy="14974888"/>
          </a:xfrm>
        </p:spPr>
        <p:txBody>
          <a:bodyPr anchor="b"/>
          <a:lstStyle>
            <a:lvl1pPr>
              <a:defRPr sz="31495"/>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487924" y="24091502"/>
            <a:ext cx="44091582" cy="7874940"/>
          </a:xfrm>
        </p:spPr>
        <p:txBody>
          <a:bodyPr/>
          <a:lstStyle>
            <a:lvl1pPr marL="0" indent="0">
              <a:buNone/>
              <a:defRPr sz="12600">
                <a:solidFill>
                  <a:schemeClr val="tx1"/>
                </a:solidFill>
              </a:defRPr>
            </a:lvl1pPr>
            <a:lvl2pPr marL="2399665" indent="0">
              <a:buNone/>
              <a:defRPr sz="10500">
                <a:solidFill>
                  <a:schemeClr val="tx1">
                    <a:tint val="75000"/>
                  </a:schemeClr>
                </a:solidFill>
              </a:defRPr>
            </a:lvl2pPr>
            <a:lvl3pPr marL="4799965" indent="0">
              <a:buNone/>
              <a:defRPr sz="9450">
                <a:solidFill>
                  <a:schemeClr val="tx1">
                    <a:tint val="75000"/>
                  </a:schemeClr>
                </a:solidFill>
              </a:defRPr>
            </a:lvl3pPr>
            <a:lvl4pPr marL="7199630" indent="0">
              <a:buNone/>
              <a:defRPr sz="8400">
                <a:solidFill>
                  <a:schemeClr val="tx1">
                    <a:tint val="75000"/>
                  </a:schemeClr>
                </a:solidFill>
              </a:defRPr>
            </a:lvl4pPr>
            <a:lvl5pPr marL="9599930" indent="0">
              <a:buNone/>
              <a:defRPr sz="8400">
                <a:solidFill>
                  <a:schemeClr val="tx1">
                    <a:tint val="75000"/>
                  </a:schemeClr>
                </a:solidFill>
              </a:defRPr>
            </a:lvl5pPr>
            <a:lvl6pPr marL="11999595" indent="0">
              <a:buNone/>
              <a:defRPr sz="8400">
                <a:solidFill>
                  <a:schemeClr val="tx1">
                    <a:tint val="75000"/>
                  </a:schemeClr>
                </a:solidFill>
              </a:defRPr>
            </a:lvl6pPr>
            <a:lvl7pPr marL="14399895" indent="0">
              <a:buNone/>
              <a:defRPr sz="8400">
                <a:solidFill>
                  <a:schemeClr val="tx1">
                    <a:tint val="75000"/>
                  </a:schemeClr>
                </a:solidFill>
              </a:defRPr>
            </a:lvl7pPr>
            <a:lvl8pPr marL="16799560" indent="0">
              <a:buNone/>
              <a:defRPr sz="8400">
                <a:solidFill>
                  <a:schemeClr val="tx1">
                    <a:tint val="75000"/>
                  </a:schemeClr>
                </a:solidFill>
              </a:defRPr>
            </a:lvl8pPr>
            <a:lvl9pPr marL="19199860" indent="0">
              <a:buNone/>
              <a:defRPr sz="84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3514546" y="9583264"/>
            <a:ext cx="21726287" cy="2284150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25879842" y="9583264"/>
            <a:ext cx="21726287" cy="2284150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521205" y="1916661"/>
            <a:ext cx="44091582" cy="6958285"/>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3521211" y="8824938"/>
            <a:ext cx="21626438" cy="4324966"/>
          </a:xfrm>
        </p:spPr>
        <p:txBody>
          <a:bodyPr anchor="b"/>
          <a:lstStyle>
            <a:lvl1pPr marL="0" indent="0">
              <a:buNone/>
              <a:defRPr sz="12600" b="1"/>
            </a:lvl1pPr>
            <a:lvl2pPr marL="2399665" indent="0">
              <a:buNone/>
              <a:defRPr sz="10500" b="1"/>
            </a:lvl2pPr>
            <a:lvl3pPr marL="4799965" indent="0">
              <a:buNone/>
              <a:defRPr sz="9450" b="1"/>
            </a:lvl3pPr>
            <a:lvl4pPr marL="7199630" indent="0">
              <a:buNone/>
              <a:defRPr sz="8400" b="1"/>
            </a:lvl4pPr>
            <a:lvl5pPr marL="9599930" indent="0">
              <a:buNone/>
              <a:defRPr sz="8400" b="1"/>
            </a:lvl5pPr>
            <a:lvl6pPr marL="11999595" indent="0">
              <a:buNone/>
              <a:defRPr sz="8400" b="1"/>
            </a:lvl6pPr>
            <a:lvl7pPr marL="14399895" indent="0">
              <a:buNone/>
              <a:defRPr sz="8400" b="1"/>
            </a:lvl7pPr>
            <a:lvl8pPr marL="16799560" indent="0">
              <a:buNone/>
              <a:defRPr sz="8400" b="1"/>
            </a:lvl8pPr>
            <a:lvl9pPr marL="19199860" indent="0">
              <a:buNone/>
              <a:defRPr sz="8400" b="1"/>
            </a:lvl9pPr>
          </a:lstStyle>
          <a:p>
            <a:pPr lvl="0"/>
            <a:r>
              <a:rPr lang="zh-CN" altLang="en-US"/>
              <a:t>编辑母版文本样式</a:t>
            </a:r>
          </a:p>
        </p:txBody>
      </p:sp>
      <p:sp>
        <p:nvSpPr>
          <p:cNvPr id="4" name="Content Placeholder 3"/>
          <p:cNvSpPr>
            <a:spLocks noGrp="1"/>
          </p:cNvSpPr>
          <p:nvPr>
            <p:ph sz="half" idx="2" hasCustomPrompt="1"/>
          </p:nvPr>
        </p:nvSpPr>
        <p:spPr>
          <a:xfrm>
            <a:off x="3521211" y="13149904"/>
            <a:ext cx="21626438" cy="1934152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25879845" y="8824938"/>
            <a:ext cx="21732945" cy="4324966"/>
          </a:xfrm>
        </p:spPr>
        <p:txBody>
          <a:bodyPr anchor="b"/>
          <a:lstStyle>
            <a:lvl1pPr marL="0" indent="0">
              <a:buNone/>
              <a:defRPr sz="12600" b="1"/>
            </a:lvl1pPr>
            <a:lvl2pPr marL="2399665" indent="0">
              <a:buNone/>
              <a:defRPr sz="10500" b="1"/>
            </a:lvl2pPr>
            <a:lvl3pPr marL="4799965" indent="0">
              <a:buNone/>
              <a:defRPr sz="9450" b="1"/>
            </a:lvl3pPr>
            <a:lvl4pPr marL="7199630" indent="0">
              <a:buNone/>
              <a:defRPr sz="8400" b="1"/>
            </a:lvl4pPr>
            <a:lvl5pPr marL="9599930" indent="0">
              <a:buNone/>
              <a:defRPr sz="8400" b="1"/>
            </a:lvl5pPr>
            <a:lvl6pPr marL="11999595" indent="0">
              <a:buNone/>
              <a:defRPr sz="8400" b="1"/>
            </a:lvl6pPr>
            <a:lvl7pPr marL="14399895" indent="0">
              <a:buNone/>
              <a:defRPr sz="8400" b="1"/>
            </a:lvl7pPr>
            <a:lvl8pPr marL="16799560" indent="0">
              <a:buNone/>
              <a:defRPr sz="8400" b="1"/>
            </a:lvl8pPr>
            <a:lvl9pPr marL="19199860" indent="0">
              <a:buNone/>
              <a:defRPr sz="8400" b="1"/>
            </a:lvl9pPr>
          </a:lstStyle>
          <a:p>
            <a:pPr lvl="0"/>
            <a:r>
              <a:rPr lang="zh-CN" altLang="en-US"/>
              <a:t>编辑母版文本样式</a:t>
            </a:r>
          </a:p>
        </p:txBody>
      </p:sp>
      <p:sp>
        <p:nvSpPr>
          <p:cNvPr id="6" name="Content Placeholder 5"/>
          <p:cNvSpPr>
            <a:spLocks noGrp="1"/>
          </p:cNvSpPr>
          <p:nvPr>
            <p:ph sz="quarter" idx="4" hasCustomPrompt="1"/>
          </p:nvPr>
        </p:nvSpPr>
        <p:spPr>
          <a:xfrm>
            <a:off x="25879845" y="13149904"/>
            <a:ext cx="21732945" cy="1934152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1205" y="2399982"/>
            <a:ext cx="16487748" cy="8399939"/>
          </a:xfrm>
        </p:spPr>
        <p:txBody>
          <a:bodyPr anchor="b"/>
          <a:lstStyle>
            <a:lvl1pPr>
              <a:defRPr sz="168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21732945" y="5183304"/>
            <a:ext cx="25879842" cy="25583147"/>
          </a:xfrm>
        </p:spPr>
        <p:txBody>
          <a:bodyPr/>
          <a:lstStyle>
            <a:lvl1pPr>
              <a:defRPr sz="16800"/>
            </a:lvl1pPr>
            <a:lvl2pPr>
              <a:defRPr sz="14700"/>
            </a:lvl2pPr>
            <a:lvl3pPr>
              <a:defRPr sz="12600"/>
            </a:lvl3pPr>
            <a:lvl4pPr>
              <a:defRPr sz="10500"/>
            </a:lvl4pPr>
            <a:lvl5pPr>
              <a:defRPr sz="10500"/>
            </a:lvl5pPr>
            <a:lvl6pPr>
              <a:defRPr sz="10500"/>
            </a:lvl6pPr>
            <a:lvl7pPr>
              <a:defRPr sz="10500"/>
            </a:lvl7pPr>
            <a:lvl8pPr>
              <a:defRPr sz="10500"/>
            </a:lvl8pPr>
            <a:lvl9pPr>
              <a:defRPr sz="10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3521205" y="10799922"/>
            <a:ext cx="16487748" cy="20008190"/>
          </a:xfrm>
        </p:spPr>
        <p:txBody>
          <a:bodyPr/>
          <a:lstStyle>
            <a:lvl1pPr marL="0" indent="0">
              <a:buNone/>
              <a:defRPr sz="8400"/>
            </a:lvl1pPr>
            <a:lvl2pPr marL="2399665" indent="0">
              <a:buNone/>
              <a:defRPr sz="7350"/>
            </a:lvl2pPr>
            <a:lvl3pPr marL="4799965" indent="0">
              <a:buNone/>
              <a:defRPr sz="6300"/>
            </a:lvl3pPr>
            <a:lvl4pPr marL="7199630" indent="0">
              <a:buNone/>
              <a:defRPr sz="5250"/>
            </a:lvl4pPr>
            <a:lvl5pPr marL="9599930" indent="0">
              <a:buNone/>
              <a:defRPr sz="5250"/>
            </a:lvl5pPr>
            <a:lvl6pPr marL="11999595" indent="0">
              <a:buNone/>
              <a:defRPr sz="5250"/>
            </a:lvl6pPr>
            <a:lvl7pPr marL="14399895" indent="0">
              <a:buNone/>
              <a:defRPr sz="5250"/>
            </a:lvl7pPr>
            <a:lvl8pPr marL="16799560" indent="0">
              <a:buNone/>
              <a:defRPr sz="5250"/>
            </a:lvl8pPr>
            <a:lvl9pPr marL="19199860" indent="0">
              <a:buNone/>
              <a:defRPr sz="525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1205" y="2399982"/>
            <a:ext cx="16487748" cy="8399939"/>
          </a:xfrm>
        </p:spPr>
        <p:txBody>
          <a:bodyPr anchor="b"/>
          <a:lstStyle>
            <a:lvl1pPr>
              <a:defRPr sz="168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1732945" y="5183304"/>
            <a:ext cx="25879842" cy="25583147"/>
          </a:xfrm>
        </p:spPr>
        <p:txBody>
          <a:bodyPr vert="horz" wrap="square" lIns="91440" tIns="45720" rIns="91440" bIns="45720" numCol="1" rtlCol="0" anchor="t" anchorCtr="0" compatLnSpc="1">
            <a:normAutofit/>
          </a:bodyPr>
          <a:lstStyle>
            <a:lvl1pPr marL="0" indent="0">
              <a:buNone/>
              <a:defRPr sz="16800"/>
            </a:lvl1pPr>
            <a:lvl2pPr marL="2399665" indent="0">
              <a:buNone/>
              <a:defRPr sz="14700"/>
            </a:lvl2pPr>
            <a:lvl3pPr marL="4799965" indent="0">
              <a:buNone/>
              <a:defRPr sz="12600"/>
            </a:lvl3pPr>
            <a:lvl4pPr marL="7199630" indent="0">
              <a:buNone/>
              <a:defRPr sz="10500"/>
            </a:lvl4pPr>
            <a:lvl5pPr marL="9599930" indent="0">
              <a:buNone/>
              <a:defRPr sz="10500"/>
            </a:lvl5pPr>
            <a:lvl6pPr marL="11999595" indent="0">
              <a:buNone/>
              <a:defRPr sz="10500"/>
            </a:lvl6pPr>
            <a:lvl7pPr marL="14399895" indent="0">
              <a:buNone/>
              <a:defRPr sz="10500"/>
            </a:lvl7pPr>
            <a:lvl8pPr marL="16799560" indent="0">
              <a:buNone/>
              <a:defRPr sz="10500"/>
            </a:lvl8pPr>
            <a:lvl9pPr marL="19199860" indent="0">
              <a:buNone/>
              <a:defRPr sz="10500"/>
            </a:lvl9pPr>
          </a:lstStyle>
          <a:p>
            <a:pPr marL="0" marR="0" lvl="0" indent="0" algn="l" defTabSz="4798695" rtl="0" eaLnBrk="0" fontAlgn="base" latinLnBrk="0" hangingPunct="0">
              <a:lnSpc>
                <a:spcPct val="90000"/>
              </a:lnSpc>
              <a:spcBef>
                <a:spcPts val="5250"/>
              </a:spcBef>
              <a:spcAft>
                <a:spcPct val="0"/>
              </a:spcAft>
              <a:buClrTx/>
              <a:buSzTx/>
              <a:buFont typeface="Arial" panose="020B0604020202020204" pitchFamily="34" charset="0"/>
              <a:buNone/>
              <a:defRPr/>
            </a:pPr>
            <a:r>
              <a:rPr kumimoji="0" lang="zh-CN" altLang="en-US" sz="168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16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hasCustomPrompt="1"/>
          </p:nvPr>
        </p:nvSpPr>
        <p:spPr>
          <a:xfrm>
            <a:off x="3521205" y="10799922"/>
            <a:ext cx="16487748" cy="20008190"/>
          </a:xfrm>
        </p:spPr>
        <p:txBody>
          <a:bodyPr/>
          <a:lstStyle>
            <a:lvl1pPr marL="0" indent="0">
              <a:buNone/>
              <a:defRPr sz="8400"/>
            </a:lvl1pPr>
            <a:lvl2pPr marL="2399665" indent="0">
              <a:buNone/>
              <a:defRPr sz="7350"/>
            </a:lvl2pPr>
            <a:lvl3pPr marL="4799965" indent="0">
              <a:buNone/>
              <a:defRPr sz="6300"/>
            </a:lvl3pPr>
            <a:lvl4pPr marL="7199630" indent="0">
              <a:buNone/>
              <a:defRPr sz="5250"/>
            </a:lvl4pPr>
            <a:lvl5pPr marL="9599930" indent="0">
              <a:buNone/>
              <a:defRPr sz="5250"/>
            </a:lvl5pPr>
            <a:lvl6pPr marL="11999595" indent="0">
              <a:buNone/>
              <a:defRPr sz="5250"/>
            </a:lvl6pPr>
            <a:lvl7pPr marL="14399895" indent="0">
              <a:buNone/>
              <a:defRPr sz="5250"/>
            </a:lvl7pPr>
            <a:lvl8pPr marL="16799560" indent="0">
              <a:buNone/>
              <a:defRPr sz="5250"/>
            </a:lvl8pPr>
            <a:lvl9pPr marL="19199860" indent="0">
              <a:buNone/>
              <a:defRPr sz="525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583236" y="1916653"/>
            <a:ext cx="11022896" cy="3050811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3514549" y="1916653"/>
            <a:ext cx="32429678" cy="3050811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3514725" y="1916113"/>
            <a:ext cx="44091225" cy="6959600"/>
          </a:xfrm>
          <a:prstGeom prst="rect">
            <a:avLst/>
          </a:prstGeom>
          <a:noFill/>
          <a:ln w="9525">
            <a:noFill/>
          </a:ln>
        </p:spPr>
        <p:txBody>
          <a:bodyPr anchor="ctr"/>
          <a:lstStyle/>
          <a:p>
            <a:pPr lvl="0"/>
            <a:r>
              <a:rPr lang="zh-CN" altLang="en-US" dirty="0"/>
              <a:t>单击此处编辑母版标题样式</a:t>
            </a:r>
          </a:p>
        </p:txBody>
      </p:sp>
      <p:sp>
        <p:nvSpPr>
          <p:cNvPr id="1027" name="Text Placeholder 2"/>
          <p:cNvSpPr>
            <a:spLocks noGrp="1"/>
          </p:cNvSpPr>
          <p:nvPr>
            <p:ph type="body" idx="1"/>
          </p:nvPr>
        </p:nvSpPr>
        <p:spPr>
          <a:xfrm>
            <a:off x="3514725" y="9583738"/>
            <a:ext cx="44091225" cy="22840950"/>
          </a:xfrm>
          <a:prstGeom prst="rect">
            <a:avLst/>
          </a:prstGeom>
          <a:noFill/>
          <a:ln w="9525">
            <a:noFill/>
          </a:ln>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Date Placeholder 3"/>
          <p:cNvSpPr>
            <a:spLocks noGrp="1"/>
          </p:cNvSpPr>
          <p:nvPr>
            <p:ph type="dt" sz="half" idx="2"/>
          </p:nvPr>
        </p:nvSpPr>
        <p:spPr>
          <a:xfrm>
            <a:off x="3514725" y="33366075"/>
            <a:ext cx="11501438" cy="1917700"/>
          </a:xfrm>
          <a:prstGeom prst="rect">
            <a:avLst/>
          </a:prstGeom>
        </p:spPr>
        <p:txBody>
          <a:bodyPr vert="horz" lIns="91440" tIns="45720" rIns="91440" bIns="45720" rtlCol="0" anchor="ctr"/>
          <a:lstStyle>
            <a:lvl1pPr algn="l" eaLnBrk="1" fontAlgn="auto" hangingPunct="1">
              <a:spcBef>
                <a:spcPts val="0"/>
              </a:spcBef>
              <a:spcAft>
                <a:spcPts val="0"/>
              </a:spcAft>
              <a:defRPr sz="630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16933863" y="33366075"/>
            <a:ext cx="17252950" cy="1917700"/>
          </a:xfrm>
          <a:prstGeom prst="rect">
            <a:avLst/>
          </a:prstGeom>
        </p:spPr>
        <p:txBody>
          <a:bodyPr vert="horz" lIns="91440" tIns="45720" rIns="91440" bIns="45720" rtlCol="0" anchor="ctr"/>
          <a:lstStyle>
            <a:lvl1pPr algn="ctr" eaLnBrk="1" fontAlgn="auto" hangingPunct="1">
              <a:spcBef>
                <a:spcPts val="0"/>
              </a:spcBef>
              <a:spcAft>
                <a:spcPts val="0"/>
              </a:spcAft>
              <a:defRPr sz="6300">
                <a:solidFill>
                  <a:schemeClr val="tx1">
                    <a:tint val="75000"/>
                  </a:schemeClr>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36104513" y="33366075"/>
            <a:ext cx="11501438" cy="1917700"/>
          </a:xfrm>
          <a:prstGeom prst="rect">
            <a:avLst/>
          </a:prstGeom>
        </p:spPr>
        <p:txBody>
          <a:bodyPr vert="horz" lIns="91440" tIns="45720" rIns="91440" bIns="45720" rtlCol="0" anchor="ctr"/>
          <a:lstStyle>
            <a:lvl1pPr algn="r" eaLnBrk="1" fontAlgn="auto" hangingPunct="1">
              <a:spcBef>
                <a:spcPts val="0"/>
              </a:spcBef>
              <a:spcAft>
                <a:spcPts val="0"/>
              </a:spcAft>
              <a:defRPr sz="630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C098490-D833-4B3E-9419-1EA2D0D62C8D}" type="slidenum">
              <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rPr>
              <a:t>‹#›</a:t>
            </a:fld>
            <a:endParaRPr kumimoji="0" lang="zh-CN" altLang="en-US" sz="63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798695" rtl="0" eaLnBrk="0" fontAlgn="base" hangingPunct="0">
        <a:lnSpc>
          <a:spcPct val="90000"/>
        </a:lnSpc>
        <a:spcBef>
          <a:spcPct val="0"/>
        </a:spcBef>
        <a:spcAft>
          <a:spcPct val="0"/>
        </a:spcAft>
        <a:defRPr sz="23000" kern="1200">
          <a:solidFill>
            <a:schemeClr val="tx1"/>
          </a:solidFill>
          <a:latin typeface="+mj-lt"/>
          <a:ea typeface="+mj-ea"/>
          <a:cs typeface="+mj-cs"/>
        </a:defRPr>
      </a:lvl1pPr>
      <a:lvl2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2pPr>
      <a:lvl3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3pPr>
      <a:lvl4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4pPr>
      <a:lvl5pPr algn="l" defTabSz="4798695" rtl="0" eaLnBrk="0" fontAlgn="base" hangingPunct="0">
        <a:lnSpc>
          <a:spcPct val="90000"/>
        </a:lnSpc>
        <a:spcBef>
          <a:spcPct val="0"/>
        </a:spcBef>
        <a:spcAft>
          <a:spcPct val="0"/>
        </a:spcAft>
        <a:defRPr sz="23000">
          <a:solidFill>
            <a:schemeClr val="tx1"/>
          </a:solidFill>
          <a:latin typeface="Calibri Light" panose="020F0302020204030204" pitchFamily="34" charset="0"/>
        </a:defRPr>
      </a:lvl5pPr>
      <a:lvl6pPr marL="457200" algn="l" defTabSz="4798695" rtl="0" fontAlgn="base">
        <a:lnSpc>
          <a:spcPct val="90000"/>
        </a:lnSpc>
        <a:spcBef>
          <a:spcPct val="0"/>
        </a:spcBef>
        <a:spcAft>
          <a:spcPct val="0"/>
        </a:spcAft>
        <a:defRPr sz="23000">
          <a:solidFill>
            <a:schemeClr val="tx1"/>
          </a:solidFill>
          <a:latin typeface="Calibri Light" panose="020F0302020204030204" pitchFamily="34" charset="0"/>
        </a:defRPr>
      </a:lvl6pPr>
      <a:lvl7pPr marL="914400" algn="l" defTabSz="4798695" rtl="0" fontAlgn="base">
        <a:lnSpc>
          <a:spcPct val="90000"/>
        </a:lnSpc>
        <a:spcBef>
          <a:spcPct val="0"/>
        </a:spcBef>
        <a:spcAft>
          <a:spcPct val="0"/>
        </a:spcAft>
        <a:defRPr sz="23000">
          <a:solidFill>
            <a:schemeClr val="tx1"/>
          </a:solidFill>
          <a:latin typeface="Calibri Light" panose="020F0302020204030204" pitchFamily="34" charset="0"/>
        </a:defRPr>
      </a:lvl7pPr>
      <a:lvl8pPr marL="1371600" algn="l" defTabSz="4798695" rtl="0" fontAlgn="base">
        <a:lnSpc>
          <a:spcPct val="90000"/>
        </a:lnSpc>
        <a:spcBef>
          <a:spcPct val="0"/>
        </a:spcBef>
        <a:spcAft>
          <a:spcPct val="0"/>
        </a:spcAft>
        <a:defRPr sz="23000">
          <a:solidFill>
            <a:schemeClr val="tx1"/>
          </a:solidFill>
          <a:latin typeface="Calibri Light" panose="020F0302020204030204" pitchFamily="34" charset="0"/>
        </a:defRPr>
      </a:lvl8pPr>
      <a:lvl9pPr marL="1828800" algn="l" defTabSz="4798695" rtl="0" fontAlgn="base">
        <a:lnSpc>
          <a:spcPct val="90000"/>
        </a:lnSpc>
        <a:spcBef>
          <a:spcPct val="0"/>
        </a:spcBef>
        <a:spcAft>
          <a:spcPct val="0"/>
        </a:spcAft>
        <a:defRPr sz="23000">
          <a:solidFill>
            <a:schemeClr val="tx1"/>
          </a:solidFill>
          <a:latin typeface="Calibri Light" panose="020F0302020204030204" pitchFamily="34" charset="0"/>
        </a:defRPr>
      </a:lvl9pPr>
    </p:titleStyle>
    <p:bodyStyle>
      <a:lvl1pPr marL="1198880" indent="-1198880" algn="l" defTabSz="4798695" rtl="0" eaLnBrk="0" fontAlgn="base" hangingPunct="0">
        <a:lnSpc>
          <a:spcPct val="90000"/>
        </a:lnSpc>
        <a:spcBef>
          <a:spcPts val="5250"/>
        </a:spcBef>
        <a:spcAft>
          <a:spcPct val="0"/>
        </a:spcAft>
        <a:buFont typeface="Arial" panose="020B0604020202020204" pitchFamily="34" charset="0"/>
        <a:buChar char="•"/>
        <a:defRPr sz="14600" kern="1200">
          <a:solidFill>
            <a:schemeClr val="tx1"/>
          </a:solidFill>
          <a:latin typeface="+mn-lt"/>
          <a:ea typeface="+mn-ea"/>
          <a:cs typeface="+mn-cs"/>
        </a:defRPr>
      </a:lvl1pPr>
      <a:lvl2pPr marL="3599180" indent="-1198880" algn="l" defTabSz="4798695" rtl="0" eaLnBrk="0" fontAlgn="base" hangingPunct="0">
        <a:lnSpc>
          <a:spcPct val="90000"/>
        </a:lnSpc>
        <a:spcBef>
          <a:spcPts val="2625"/>
        </a:spcBef>
        <a:spcAft>
          <a:spcPct val="0"/>
        </a:spcAft>
        <a:buFont typeface="Arial" panose="020B0604020202020204" pitchFamily="34" charset="0"/>
        <a:buChar char="•"/>
        <a:defRPr sz="12500" kern="1200">
          <a:solidFill>
            <a:schemeClr val="tx1"/>
          </a:solidFill>
          <a:latin typeface="+mn-lt"/>
          <a:ea typeface="+mn-ea"/>
          <a:cs typeface="+mn-cs"/>
        </a:defRPr>
      </a:lvl2pPr>
      <a:lvl3pPr marL="5999480" indent="-1198880" algn="l" defTabSz="4798695" rtl="0" eaLnBrk="0" fontAlgn="base" hangingPunct="0">
        <a:lnSpc>
          <a:spcPct val="90000"/>
        </a:lnSpc>
        <a:spcBef>
          <a:spcPts val="2625"/>
        </a:spcBef>
        <a:spcAft>
          <a:spcPct val="0"/>
        </a:spcAft>
        <a:buFont typeface="Arial" panose="020B0604020202020204" pitchFamily="34" charset="0"/>
        <a:buChar char="•"/>
        <a:defRPr sz="10400" kern="1200">
          <a:solidFill>
            <a:schemeClr val="tx1"/>
          </a:solidFill>
          <a:latin typeface="+mn-lt"/>
          <a:ea typeface="+mn-ea"/>
          <a:cs typeface="+mn-cs"/>
        </a:defRPr>
      </a:lvl3pPr>
      <a:lvl4pPr marL="8399780" indent="-1198880" algn="l" defTabSz="4798695" rtl="0" eaLnBrk="0" fontAlgn="base" hangingPunct="0">
        <a:lnSpc>
          <a:spcPct val="90000"/>
        </a:lnSpc>
        <a:spcBef>
          <a:spcPts val="2625"/>
        </a:spcBef>
        <a:spcAft>
          <a:spcPct val="0"/>
        </a:spcAft>
        <a:buFont typeface="Arial" panose="020B0604020202020204" pitchFamily="34" charset="0"/>
        <a:buChar char="•"/>
        <a:defRPr sz="9400" kern="1200">
          <a:solidFill>
            <a:schemeClr val="tx1"/>
          </a:solidFill>
          <a:latin typeface="+mn-lt"/>
          <a:ea typeface="+mn-ea"/>
          <a:cs typeface="+mn-cs"/>
        </a:defRPr>
      </a:lvl4pPr>
      <a:lvl5pPr marL="10800080" indent="-1198880" algn="l" defTabSz="4798695" rtl="0" eaLnBrk="0" fontAlgn="base" hangingPunct="0">
        <a:lnSpc>
          <a:spcPct val="90000"/>
        </a:lnSpc>
        <a:spcBef>
          <a:spcPts val="2625"/>
        </a:spcBef>
        <a:spcAft>
          <a:spcPct val="0"/>
        </a:spcAft>
        <a:buFont typeface="Arial" panose="020B0604020202020204" pitchFamily="34" charset="0"/>
        <a:buChar char="•"/>
        <a:defRPr sz="9400" kern="1200">
          <a:solidFill>
            <a:schemeClr val="tx1"/>
          </a:solidFill>
          <a:latin typeface="+mn-lt"/>
          <a:ea typeface="+mn-ea"/>
          <a:cs typeface="+mn-cs"/>
        </a:defRPr>
      </a:lvl5pPr>
      <a:lvl6pPr marL="13199745"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6pPr>
      <a:lvl7pPr marL="15600045"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7pPr>
      <a:lvl8pPr marL="17999710"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8pPr>
      <a:lvl9pPr marL="20400010" indent="-1200150" algn="l" defTabSz="4799330" rtl="0" eaLnBrk="1" latinLnBrk="0" hangingPunct="1">
        <a:lnSpc>
          <a:spcPct val="90000"/>
        </a:lnSpc>
        <a:spcBef>
          <a:spcPts val="2625"/>
        </a:spcBef>
        <a:buFont typeface="Arial" panose="020B0604020202020204" pitchFamily="34" charset="0"/>
        <a:buChar char="•"/>
        <a:defRPr sz="9450" kern="1200">
          <a:solidFill>
            <a:schemeClr val="tx1"/>
          </a:solidFill>
          <a:latin typeface="+mn-lt"/>
          <a:ea typeface="+mn-ea"/>
          <a:cs typeface="+mn-cs"/>
        </a:defRPr>
      </a:lvl9pPr>
    </p:bodyStyle>
    <p:otherStyle>
      <a:defPPr>
        <a:defRPr lang="en-US"/>
      </a:defPPr>
      <a:lvl1pPr marL="0" algn="l" defTabSz="4799330" rtl="0" eaLnBrk="1" latinLnBrk="0" hangingPunct="1">
        <a:defRPr sz="9450" kern="1200">
          <a:solidFill>
            <a:schemeClr val="tx1"/>
          </a:solidFill>
          <a:latin typeface="+mn-lt"/>
          <a:ea typeface="+mn-ea"/>
          <a:cs typeface="+mn-cs"/>
        </a:defRPr>
      </a:lvl1pPr>
      <a:lvl2pPr marL="2399665" algn="l" defTabSz="4799330" rtl="0" eaLnBrk="1" latinLnBrk="0" hangingPunct="1">
        <a:defRPr sz="9450" kern="1200">
          <a:solidFill>
            <a:schemeClr val="tx1"/>
          </a:solidFill>
          <a:latin typeface="+mn-lt"/>
          <a:ea typeface="+mn-ea"/>
          <a:cs typeface="+mn-cs"/>
        </a:defRPr>
      </a:lvl2pPr>
      <a:lvl3pPr marL="4799965" algn="l" defTabSz="4799330" rtl="0" eaLnBrk="1" latinLnBrk="0" hangingPunct="1">
        <a:defRPr sz="9450" kern="1200">
          <a:solidFill>
            <a:schemeClr val="tx1"/>
          </a:solidFill>
          <a:latin typeface="+mn-lt"/>
          <a:ea typeface="+mn-ea"/>
          <a:cs typeface="+mn-cs"/>
        </a:defRPr>
      </a:lvl3pPr>
      <a:lvl4pPr marL="7199630" algn="l" defTabSz="4799330" rtl="0" eaLnBrk="1" latinLnBrk="0" hangingPunct="1">
        <a:defRPr sz="9450" kern="1200">
          <a:solidFill>
            <a:schemeClr val="tx1"/>
          </a:solidFill>
          <a:latin typeface="+mn-lt"/>
          <a:ea typeface="+mn-ea"/>
          <a:cs typeface="+mn-cs"/>
        </a:defRPr>
      </a:lvl4pPr>
      <a:lvl5pPr marL="9599930" algn="l" defTabSz="4799330" rtl="0" eaLnBrk="1" latinLnBrk="0" hangingPunct="1">
        <a:defRPr sz="9450" kern="1200">
          <a:solidFill>
            <a:schemeClr val="tx1"/>
          </a:solidFill>
          <a:latin typeface="+mn-lt"/>
          <a:ea typeface="+mn-ea"/>
          <a:cs typeface="+mn-cs"/>
        </a:defRPr>
      </a:lvl5pPr>
      <a:lvl6pPr marL="11999595" algn="l" defTabSz="4799330" rtl="0" eaLnBrk="1" latinLnBrk="0" hangingPunct="1">
        <a:defRPr sz="9450" kern="1200">
          <a:solidFill>
            <a:schemeClr val="tx1"/>
          </a:solidFill>
          <a:latin typeface="+mn-lt"/>
          <a:ea typeface="+mn-ea"/>
          <a:cs typeface="+mn-cs"/>
        </a:defRPr>
      </a:lvl6pPr>
      <a:lvl7pPr marL="14399895" algn="l" defTabSz="4799330" rtl="0" eaLnBrk="1" latinLnBrk="0" hangingPunct="1">
        <a:defRPr sz="9450" kern="1200">
          <a:solidFill>
            <a:schemeClr val="tx1"/>
          </a:solidFill>
          <a:latin typeface="+mn-lt"/>
          <a:ea typeface="+mn-ea"/>
          <a:cs typeface="+mn-cs"/>
        </a:defRPr>
      </a:lvl7pPr>
      <a:lvl8pPr marL="16799560" algn="l" defTabSz="4799330" rtl="0" eaLnBrk="1" latinLnBrk="0" hangingPunct="1">
        <a:defRPr sz="9450" kern="1200">
          <a:solidFill>
            <a:schemeClr val="tx1"/>
          </a:solidFill>
          <a:latin typeface="+mn-lt"/>
          <a:ea typeface="+mn-ea"/>
          <a:cs typeface="+mn-cs"/>
        </a:defRPr>
      </a:lvl8pPr>
      <a:lvl9pPr marL="19199860" algn="l" defTabSz="4799330" rtl="0" eaLnBrk="1" latinLnBrk="0" hangingPunct="1">
        <a:defRPr sz="9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16906240" y="4392930"/>
            <a:ext cx="17132935" cy="31176891"/>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633345" y="4393565"/>
            <a:ext cx="16233965" cy="31176256"/>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276544" y="6786880"/>
            <a:ext cx="16104870" cy="28782941"/>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5" name="矩形 188"/>
          <p:cNvSpPr>
            <a:spLocks noChangeArrowheads="1"/>
          </p:cNvSpPr>
          <p:nvPr/>
        </p:nvSpPr>
        <p:spPr bwMode="auto">
          <a:xfrm>
            <a:off x="282575" y="6786880"/>
            <a:ext cx="16098838" cy="1568450"/>
          </a:xfrm>
          <a:prstGeom prst="rect">
            <a:avLst/>
          </a:prstGeom>
          <a:solidFill>
            <a:srgbClr val="0262AF"/>
          </a:solidFill>
          <a:ln w="25400">
            <a:noFill/>
            <a:miter lim="800000"/>
          </a:ln>
        </p:spPr>
        <p:txBody>
          <a:bodyPr anchor="ctr"/>
          <a:lstStyle>
            <a:lvl1pPr>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7785"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056" name="矩形 104"/>
          <p:cNvSpPr>
            <a:spLocks noChangeArrowheads="1"/>
          </p:cNvSpPr>
          <p:nvPr/>
        </p:nvSpPr>
        <p:spPr bwMode="auto">
          <a:xfrm>
            <a:off x="34633345" y="4392930"/>
            <a:ext cx="16230790" cy="1438275"/>
          </a:xfrm>
          <a:prstGeom prst="rect">
            <a:avLst/>
          </a:prstGeom>
          <a:solidFill>
            <a:srgbClr val="0262AF"/>
          </a:solidFill>
          <a:ln w="25400">
            <a:noFill/>
            <a:miter lim="800000"/>
          </a:ln>
        </p:spPr>
        <p:txBody>
          <a:bodyPr anchor="ctr"/>
          <a:lstStyle>
            <a:lvl1pPr>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7785"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057" name="矩形 199"/>
          <p:cNvSpPr>
            <a:spLocks noChangeArrowheads="1"/>
          </p:cNvSpPr>
          <p:nvPr/>
        </p:nvSpPr>
        <p:spPr bwMode="auto">
          <a:xfrm>
            <a:off x="16906240" y="4392930"/>
            <a:ext cx="17132935" cy="1440180"/>
          </a:xfrm>
          <a:prstGeom prst="rect">
            <a:avLst/>
          </a:prstGeom>
          <a:solidFill>
            <a:srgbClr val="0262AF"/>
          </a:solidFill>
          <a:ln w="25400">
            <a:noFill/>
            <a:bevel/>
          </a:ln>
          <a:effectLst/>
        </p:spPr>
        <p:txBody>
          <a:bodyPr anchor="ctr"/>
          <a:lstStyle>
            <a:lvl1pPr>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4982845"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7785"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pic>
        <p:nvPicPr>
          <p:cNvPr id="2061" name="图片 2"/>
          <p:cNvPicPr>
            <a:picLocks noChangeAspect="1"/>
          </p:cNvPicPr>
          <p:nvPr/>
        </p:nvPicPr>
        <p:blipFill>
          <a:blip r:embed="rId3"/>
          <a:srcRect l="8762" t="13538" r="5496" b="17427"/>
          <a:stretch>
            <a:fillRect/>
          </a:stretch>
        </p:blipFill>
        <p:spPr>
          <a:xfrm>
            <a:off x="478155" y="144780"/>
            <a:ext cx="5957570" cy="5320030"/>
          </a:xfrm>
          <a:prstGeom prst="rect">
            <a:avLst/>
          </a:prstGeom>
          <a:noFill/>
          <a:ln w="9525">
            <a:noFill/>
          </a:ln>
        </p:spPr>
      </p:pic>
      <p:pic>
        <p:nvPicPr>
          <p:cNvPr id="3" name="图片 2" descr="图层 6"/>
          <p:cNvPicPr>
            <a:picLocks noChangeAspect="1"/>
          </p:cNvPicPr>
          <p:nvPr/>
        </p:nvPicPr>
        <p:blipFill>
          <a:blip r:embed="rId4"/>
          <a:stretch>
            <a:fillRect/>
          </a:stretch>
        </p:blipFill>
        <p:spPr>
          <a:xfrm>
            <a:off x="45218521" y="1775866"/>
            <a:ext cx="5881833" cy="2034134"/>
          </a:xfrm>
          <a:prstGeom prst="rect">
            <a:avLst/>
          </a:prstGeom>
        </p:spPr>
      </p:pic>
      <p:grpSp>
        <p:nvGrpSpPr>
          <p:cNvPr id="18" name="组合 17"/>
          <p:cNvGrpSpPr/>
          <p:nvPr/>
        </p:nvGrpSpPr>
        <p:grpSpPr>
          <a:xfrm>
            <a:off x="7615555" y="337185"/>
            <a:ext cx="9290685" cy="4879975"/>
            <a:chOff x="11428" y="1209"/>
            <a:chExt cx="14631" cy="7685"/>
          </a:xfrm>
        </p:grpSpPr>
        <p:sp>
          <p:nvSpPr>
            <p:cNvPr id="2050" name="矩形 181"/>
            <p:cNvSpPr>
              <a:spLocks noChangeArrowheads="1"/>
            </p:cNvSpPr>
            <p:nvPr/>
          </p:nvSpPr>
          <p:spPr bwMode="auto">
            <a:xfrm>
              <a:off x="11428" y="4634"/>
              <a:ext cx="14631" cy="2515"/>
            </a:xfrm>
            <a:prstGeom prst="rect">
              <a:avLst/>
            </a:prstGeom>
            <a:noFill/>
            <a:ln w="25400">
              <a:noFill/>
              <a:miter lim="800000"/>
            </a:ln>
          </p:spPr>
          <p:txBody>
            <a:bodyPr anchor="ctr"/>
            <a:lstStyle>
              <a:lvl1pPr defTabSz="3849370">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defTabSz="384937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defTabSz="384937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marL="0" marR="0" lvl="0" indent="0" algn="l" defTabSz="3849370" rtl="0" eaLnBrk="1" fontAlgn="auto" latinLnBrk="0" hangingPunct="1">
                <a:lnSpc>
                  <a:spcPct val="100000"/>
                </a:lnSpc>
                <a:spcBef>
                  <a:spcPct val="50000"/>
                </a:spcBef>
                <a:spcAft>
                  <a:spcPts val="0"/>
                </a:spcAft>
                <a:buClrTx/>
                <a:buSzTx/>
                <a:buFont typeface="Arial" panose="020B0604020202020204" pitchFamily="34" charset="0"/>
                <a:buNone/>
                <a:defRPr/>
              </a:pPr>
              <a:r>
                <a:rPr kumimoji="0" lang="en-US" altLang="zh-CN" sz="10880" b="1" i="0" u="none" strike="noStrike" kern="1200" cap="none" spc="0" normalizeH="0" baseline="0" noProof="0">
                  <a:ln>
                    <a:noFill/>
                  </a:ln>
                  <a:solidFill>
                    <a:schemeClr val="accent5"/>
                  </a:solidFill>
                  <a:effectLst/>
                  <a:uLnTx/>
                  <a:uFillTx/>
                  <a:latin typeface="Arial" panose="020B0604020202020204" pitchFamily="34" charset="0"/>
                  <a:ea typeface="宋体" panose="02010600030101010101" pitchFamily="2" charset="-122"/>
                  <a:cs typeface="+mn-cs"/>
                </a:rPr>
                <a:t>VALSE 2019 </a:t>
              </a:r>
            </a:p>
          </p:txBody>
        </p:sp>
        <p:pic>
          <p:nvPicPr>
            <p:cNvPr id="11" name="图片 10" descr="合肥"/>
            <p:cNvPicPr>
              <a:picLocks noChangeAspect="1"/>
            </p:cNvPicPr>
            <p:nvPr/>
          </p:nvPicPr>
          <p:blipFill>
            <a:blip r:embed="rId5"/>
            <a:stretch>
              <a:fillRect/>
            </a:stretch>
          </p:blipFill>
          <p:spPr>
            <a:xfrm>
              <a:off x="11428" y="1209"/>
              <a:ext cx="6095" cy="3425"/>
            </a:xfrm>
            <a:prstGeom prst="rect">
              <a:avLst/>
            </a:prstGeom>
          </p:spPr>
        </p:pic>
        <p:sp>
          <p:nvSpPr>
            <p:cNvPr id="13" name="文本框 12"/>
            <p:cNvSpPr txBox="1"/>
            <p:nvPr/>
          </p:nvSpPr>
          <p:spPr>
            <a:xfrm>
              <a:off x="11428" y="7149"/>
              <a:ext cx="13498" cy="1745"/>
            </a:xfrm>
            <a:prstGeom prst="rect">
              <a:avLst/>
            </a:prstGeom>
            <a:noFill/>
          </p:spPr>
          <p:txBody>
            <a:bodyPr wrap="square" rtlCol="0">
              <a:spAutoFit/>
            </a:bodyPr>
            <a:lstStyle/>
            <a:p>
              <a:pPr algn="ctr"/>
              <a:r>
                <a:rPr lang="en-US" altLang="zh-CN" sz="6600" dirty="0"/>
                <a:t>April 11 – 14, 2019</a:t>
              </a:r>
              <a:endParaRPr lang="zh-CN" altLang="en-US" sz="6600" dirty="0"/>
            </a:p>
          </p:txBody>
        </p:sp>
      </p:grpSp>
      <p:cxnSp>
        <p:nvCxnSpPr>
          <p:cNvPr id="14" name="直接连接符 13"/>
          <p:cNvCxnSpPr/>
          <p:nvPr/>
        </p:nvCxnSpPr>
        <p:spPr>
          <a:xfrm flipV="1">
            <a:off x="16906240" y="3885285"/>
            <a:ext cx="34265870" cy="74621"/>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16" name="矩形 181"/>
          <p:cNvSpPr>
            <a:spLocks noChangeArrowheads="1"/>
          </p:cNvSpPr>
          <p:nvPr/>
        </p:nvSpPr>
        <p:spPr bwMode="auto">
          <a:xfrm>
            <a:off x="16906240" y="617855"/>
            <a:ext cx="28312281" cy="3192145"/>
          </a:xfrm>
          <a:prstGeom prst="rect">
            <a:avLst/>
          </a:prstGeom>
          <a:noFill/>
          <a:ln w="25400">
            <a:noFill/>
            <a:miter lim="800000"/>
          </a:ln>
        </p:spPr>
        <p:txBody>
          <a:bodyPr anchor="ctr"/>
          <a:lstStyle>
            <a:lvl1pPr defTabSz="3849370">
              <a:spcBef>
                <a:spcPct val="20000"/>
              </a:spcBef>
              <a:buFont typeface="Arial" panose="020B0604020202020204" pitchFamily="34" charset="0"/>
              <a:buChar char="•"/>
              <a:defRPr sz="17400">
                <a:solidFill>
                  <a:schemeClr val="tx1"/>
                </a:solidFill>
                <a:latin typeface="Calibri" panose="020F0502020204030204" pitchFamily="34" charset="0"/>
                <a:ea typeface="宋体" panose="02010600030101010101" pitchFamily="2" charset="-122"/>
              </a:defRPr>
            </a:lvl1pPr>
            <a:lvl2pPr marL="742950" indent="-285750" defTabSz="3849370">
              <a:spcBef>
                <a:spcPct val="20000"/>
              </a:spcBef>
              <a:buFont typeface="Arial" panose="020B0604020202020204" pitchFamily="34" charset="0"/>
              <a:buChar char="–"/>
              <a:defRPr sz="15300">
                <a:solidFill>
                  <a:schemeClr val="tx1"/>
                </a:solidFill>
                <a:latin typeface="Calibri" panose="020F0502020204030204" pitchFamily="34" charset="0"/>
                <a:ea typeface="宋体" panose="02010600030101010101" pitchFamily="2" charset="-122"/>
              </a:defRPr>
            </a:lvl2pPr>
            <a:lvl3pPr marL="1143000" indent="-228600" defTabSz="3849370">
              <a:spcBef>
                <a:spcPct val="20000"/>
              </a:spcBef>
              <a:buFont typeface="Arial" panose="020B0604020202020204" pitchFamily="34" charset="0"/>
              <a:buChar char="•"/>
              <a:defRPr sz="13100">
                <a:solidFill>
                  <a:schemeClr val="tx1"/>
                </a:solidFill>
                <a:latin typeface="Calibri" panose="020F0502020204030204" pitchFamily="34" charset="0"/>
                <a:ea typeface="宋体" panose="02010600030101010101" pitchFamily="2" charset="-122"/>
              </a:defRPr>
            </a:lvl3pPr>
            <a:lvl4pPr marL="16002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4pPr>
            <a:lvl5pPr marL="2057400" indent="-228600" defTabSz="3849370">
              <a:spcBef>
                <a:spcPct val="20000"/>
              </a:spcBef>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5pPr>
            <a:lvl6pPr marL="25146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6pPr>
            <a:lvl7pPr marL="29718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7pPr>
            <a:lvl8pPr marL="34290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8pPr>
            <a:lvl9pPr marL="3886200" indent="-228600" defTabSz="3849370" eaLnBrk="0" fontAlgn="base" hangingPunct="0">
              <a:spcBef>
                <a:spcPct val="20000"/>
              </a:spcBef>
              <a:spcAft>
                <a:spcPct val="0"/>
              </a:spcAft>
              <a:buFont typeface="Arial" panose="020B0604020202020204" pitchFamily="34" charset="0"/>
              <a:buChar char="»"/>
              <a:defRPr sz="10900">
                <a:solidFill>
                  <a:schemeClr val="tx1"/>
                </a:solidFill>
                <a:latin typeface="Calibri" panose="020F0502020204030204" pitchFamily="34" charset="0"/>
                <a:ea typeface="宋体" panose="02010600030101010101" pitchFamily="2" charset="-122"/>
              </a:defRPr>
            </a:lvl9pPr>
          </a:lstStyle>
          <a:p>
            <a:pPr lvl="0" algn="ctr" eaLnBrk="1" fontAlgn="auto" hangingPunct="1">
              <a:spcBef>
                <a:spcPct val="50000"/>
              </a:spcBef>
              <a:spcAft>
                <a:spcPts val="1200"/>
              </a:spcAft>
              <a:buNone/>
              <a:defRPr/>
            </a:pPr>
            <a:r>
              <a:rPr lang="en-US" altLang="zh-CN" sz="7200" b="1" dirty="0">
                <a:solidFill>
                  <a:srgbClr val="0070C0"/>
                </a:solidFill>
                <a:latin typeface="Arial" panose="020B0604020202020204" pitchFamily="34" charset="0"/>
                <a:cs typeface="Arial" panose="020B0604020202020204" pitchFamily="34" charset="0"/>
              </a:rPr>
              <a:t>Learning from Web Data using Adversarial Discriminative Neural Networks for Fine-Grained Classification (AAAI’2019)</a:t>
            </a:r>
          </a:p>
          <a:p>
            <a:pPr lvl="0" algn="ctr" eaLnBrk="1" fontAlgn="auto" hangingPunct="1">
              <a:lnSpc>
                <a:spcPct val="0"/>
              </a:lnSpc>
              <a:spcBef>
                <a:spcPct val="50000"/>
              </a:spcBef>
              <a:spcAft>
                <a:spcPts val="0"/>
              </a:spcAft>
              <a:buNone/>
              <a:defRPr/>
            </a:pPr>
            <a:r>
              <a:rPr lang="en-US" altLang="zh-CN" sz="5400" i="1" dirty="0">
                <a:solidFill>
                  <a:srgbClr val="0070C0"/>
                </a:solidFill>
                <a:latin typeface="Arial" panose="020B0604020202020204" pitchFamily="34" charset="0"/>
                <a:cs typeface="Arial" panose="020B0604020202020204" pitchFamily="34" charset="0"/>
              </a:rPr>
              <a:t>Xiaoxiao Sun, </a:t>
            </a:r>
            <a:r>
              <a:rPr lang="en-US" altLang="zh-CN" sz="5400" i="1" dirty="0" err="1">
                <a:solidFill>
                  <a:srgbClr val="0070C0"/>
                </a:solidFill>
                <a:latin typeface="Arial" panose="020B0604020202020204" pitchFamily="34" charset="0"/>
                <a:cs typeface="Arial" panose="020B0604020202020204" pitchFamily="34" charset="0"/>
              </a:rPr>
              <a:t>Liyi</a:t>
            </a:r>
            <a:r>
              <a:rPr lang="en-US" altLang="zh-CN" sz="5400" i="1" dirty="0">
                <a:solidFill>
                  <a:srgbClr val="0070C0"/>
                </a:solidFill>
                <a:latin typeface="Arial" panose="020B0604020202020204" pitchFamily="34" charset="0"/>
                <a:cs typeface="Arial" panose="020B0604020202020204" pitchFamily="34" charset="0"/>
              </a:rPr>
              <a:t> Chen, </a:t>
            </a:r>
            <a:r>
              <a:rPr lang="en-US" altLang="zh-CN" sz="5400" i="1" dirty="0" err="1">
                <a:solidFill>
                  <a:srgbClr val="0070C0"/>
                </a:solidFill>
                <a:latin typeface="Arial" panose="020B0604020202020204" pitchFamily="34" charset="0"/>
                <a:cs typeface="Arial" panose="020B0604020202020204" pitchFamily="34" charset="0"/>
              </a:rPr>
              <a:t>Jufeng</a:t>
            </a:r>
            <a:r>
              <a:rPr lang="en-US" altLang="zh-CN" sz="5400" i="1" dirty="0">
                <a:solidFill>
                  <a:srgbClr val="0070C0"/>
                </a:solidFill>
                <a:latin typeface="Arial" panose="020B0604020202020204" pitchFamily="34" charset="0"/>
                <a:cs typeface="Arial" panose="020B0604020202020204" pitchFamily="34" charset="0"/>
              </a:rPr>
              <a:t> Yang     Nankai University</a:t>
            </a:r>
            <a:endParaRPr kumimoji="0" lang="en-US" altLang="zh-CN" sz="12000" b="1" i="0" u="none" strike="noStrike" kern="1200" cap="none" spc="0" normalizeH="0" baseline="0" noProof="0" dirty="0">
              <a:ln>
                <a:noFill/>
              </a:ln>
              <a:solidFill>
                <a:srgbClr val="0070C0"/>
              </a:solidFill>
              <a:effectLst/>
              <a:uLnTx/>
              <a:uFillTx/>
              <a:latin typeface="Arial Black" panose="020B0A04020102020204" charset="0"/>
              <a:ea typeface="宋体" panose="02010600030101010101" pitchFamily="2" charset="-122"/>
              <a:cs typeface="Arial Black" panose="020B0A04020102020204" charset="0"/>
              <a:sym typeface="Arial" panose="020B0604020202020204" pitchFamily="34" charset="0"/>
            </a:endParaRPr>
          </a:p>
        </p:txBody>
      </p:sp>
      <p:cxnSp>
        <p:nvCxnSpPr>
          <p:cNvPr id="17" name="直接连接符 16"/>
          <p:cNvCxnSpPr/>
          <p:nvPr/>
        </p:nvCxnSpPr>
        <p:spPr>
          <a:xfrm>
            <a:off x="6989445" y="331470"/>
            <a:ext cx="0" cy="4958715"/>
          </a:xfrm>
          <a:prstGeom prst="line">
            <a:avLst/>
          </a:prstGeom>
          <a:ln w="254000" cmpd="sng">
            <a:solidFill>
              <a:srgbClr val="0262AF"/>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288473" y="6786880"/>
            <a:ext cx="8711565" cy="1568450"/>
          </a:xfrm>
          <a:prstGeom prst="rect">
            <a:avLst/>
          </a:prstGeom>
          <a:noFill/>
        </p:spPr>
        <p:txBody>
          <a:bodyPr wrap="square" rtlCol="0">
            <a:spAutoFit/>
          </a:bodyPr>
          <a:lstStyle/>
          <a:p>
            <a:r>
              <a:rPr lang="zh-CN" altLang="en-US" sz="9600" dirty="0">
                <a:solidFill>
                  <a:schemeClr val="bg1"/>
                </a:solidFill>
                <a:latin typeface="Arial Black" panose="020B0A04020102020204" charset="0"/>
                <a:ea typeface="思源黑体 CN Heavy" panose="020B0A00000000000000" charset="-122"/>
                <a:cs typeface="Arial Black" panose="020B0A04020102020204" charset="0"/>
              </a:rPr>
              <a:t>Introduction</a:t>
            </a:r>
          </a:p>
        </p:txBody>
      </p:sp>
      <p:sp>
        <p:nvSpPr>
          <p:cNvPr id="20" name="文本框 19"/>
          <p:cNvSpPr txBox="1"/>
          <p:nvPr/>
        </p:nvSpPr>
        <p:spPr>
          <a:xfrm>
            <a:off x="21455881" y="4318448"/>
            <a:ext cx="8711565" cy="1568450"/>
          </a:xfrm>
          <a:prstGeom prst="rect">
            <a:avLst/>
          </a:prstGeom>
          <a:noFill/>
        </p:spPr>
        <p:txBody>
          <a:bodyPr wrap="square" rtlCol="0">
            <a:spAutoFit/>
          </a:bodyPr>
          <a:lstStyle/>
          <a:p>
            <a:pPr algn="ctr"/>
            <a:r>
              <a:rPr lang="en-US" altLang="zh-CN" sz="9600" dirty="0">
                <a:solidFill>
                  <a:schemeClr val="bg1"/>
                </a:solidFill>
                <a:latin typeface="Arial Black" panose="020B0A04020102020204" charset="0"/>
                <a:ea typeface="思源黑体 CN Heavy" panose="020B0A00000000000000" charset="-122"/>
                <a:cs typeface="Arial Black" panose="020B0A04020102020204" charset="0"/>
              </a:rPr>
              <a:t>Method</a:t>
            </a:r>
            <a:endParaRPr lang="zh-CN" altLang="en-US" sz="9600" dirty="0">
              <a:solidFill>
                <a:schemeClr val="bg1"/>
              </a:solidFill>
              <a:latin typeface="Arial Black" panose="020B0A04020102020204" charset="0"/>
              <a:ea typeface="思源黑体 CN Heavy" panose="020B0A00000000000000" charset="-122"/>
              <a:cs typeface="Arial Black" panose="020B0A04020102020204" charset="0"/>
            </a:endParaRPr>
          </a:p>
        </p:txBody>
      </p:sp>
      <p:sp>
        <p:nvSpPr>
          <p:cNvPr id="21" name="文本框 20"/>
          <p:cNvSpPr txBox="1"/>
          <p:nvPr/>
        </p:nvSpPr>
        <p:spPr>
          <a:xfrm>
            <a:off x="39076948" y="4327843"/>
            <a:ext cx="8711565" cy="1568450"/>
          </a:xfrm>
          <a:prstGeom prst="rect">
            <a:avLst/>
          </a:prstGeom>
          <a:noFill/>
        </p:spPr>
        <p:txBody>
          <a:bodyPr wrap="square" rtlCol="0">
            <a:spAutoFit/>
          </a:bodyPr>
          <a:lstStyle/>
          <a:p>
            <a:pPr algn="ctr"/>
            <a:r>
              <a:rPr lang="en-US" altLang="zh-CN" sz="9600" dirty="0">
                <a:solidFill>
                  <a:schemeClr val="bg1"/>
                </a:solidFill>
                <a:latin typeface="Arial Black" panose="020B0A04020102020204" charset="0"/>
                <a:ea typeface="思源黑体 CN Heavy" panose="020B0A00000000000000" charset="-122"/>
                <a:cs typeface="Arial Black" panose="020B0A04020102020204" charset="0"/>
              </a:rPr>
              <a:t>Experiment</a:t>
            </a:r>
            <a:endParaRPr lang="zh-CN" altLang="en-US" sz="9600" dirty="0">
              <a:solidFill>
                <a:schemeClr val="bg1"/>
              </a:solidFill>
              <a:latin typeface="Arial Black" panose="020B0A04020102020204" charset="0"/>
              <a:ea typeface="思源黑体 CN Heavy" panose="020B0A00000000000000" charset="-122"/>
              <a:cs typeface="Arial Black" panose="020B0A04020102020204" charset="0"/>
            </a:endParaRPr>
          </a:p>
        </p:txBody>
      </p:sp>
      <p:sp>
        <p:nvSpPr>
          <p:cNvPr id="22" name="文本框 5"/>
          <p:cNvSpPr txBox="1"/>
          <p:nvPr/>
        </p:nvSpPr>
        <p:spPr>
          <a:xfrm>
            <a:off x="955517" y="8703656"/>
            <a:ext cx="14667716" cy="4140673"/>
          </a:xfrm>
          <a:prstGeom prst="rect">
            <a:avLst/>
          </a:prstGeom>
          <a:noFill/>
        </p:spPr>
        <p:txBody>
          <a:bodyPr wrap="square" lIns="77264" tIns="38634" rIns="77264" bIns="38634" rtlCol="0">
            <a:spAutoFit/>
          </a:bodyPr>
          <a:lstStyle/>
          <a:p>
            <a:pPr algn="just" defTabSz="3631926">
              <a:defRPr/>
            </a:pPr>
            <a:r>
              <a:rPr lang="en-US" altLang="zh-CN" sz="4400" kern="100" dirty="0">
                <a:solidFill>
                  <a:prstClr val="black"/>
                </a:solidFill>
                <a:latin typeface="Times New Roman"/>
                <a:cs typeface="Times New Roman"/>
              </a:rPr>
              <a:t>While most existing works learn from web data by reducing the noisy level of web data, we address this problem by overcoming the dataset gap between the web and well-labelled datasets. Specifically, an adversarial discriminative loss is used to advocate representation coherence between the two kinds of data.</a:t>
            </a:r>
          </a:p>
        </p:txBody>
      </p:sp>
      <p:sp>
        <p:nvSpPr>
          <p:cNvPr id="23" name="Text Placeholder 21"/>
          <p:cNvSpPr txBox="1">
            <a:spLocks/>
          </p:cNvSpPr>
          <p:nvPr/>
        </p:nvSpPr>
        <p:spPr>
          <a:xfrm>
            <a:off x="955517" y="29068015"/>
            <a:ext cx="14667716" cy="6069758"/>
          </a:xfrm>
          <a:prstGeom prst="rect">
            <a:avLst/>
          </a:prstGeom>
        </p:spPr>
        <p:txBody>
          <a:bodyPr wrap="square" lIns="189176" tIns="189176" rIns="189176" bIns="189176">
            <a:spAutoFit/>
          </a:bodyPr>
          <a:lstStyle>
            <a:lvl1pPr marL="0" indent="0" algn="l" defTabSz="4295596" rtl="0" eaLnBrk="1" latinLnBrk="0" hangingPunct="1">
              <a:spcBef>
                <a:spcPct val="20000"/>
              </a:spcBef>
              <a:buFont typeface="Arial" pitchFamily="34" charset="0"/>
              <a:buNone/>
              <a:defRPr sz="2700" kern="1200" baseline="0">
                <a:solidFill>
                  <a:schemeClr val="accent5">
                    <a:lumMod val="50000"/>
                  </a:schemeClr>
                </a:solidFill>
                <a:latin typeface="Trebuchet MS" pitchFamily="34" charset="0"/>
                <a:ea typeface="+mn-ea"/>
                <a:cs typeface="+mn-cs"/>
              </a:defRPr>
            </a:lvl1pPr>
            <a:lvl2pPr marL="1454238" indent="-559323" algn="l" defTabSz="4295596" rtl="0" eaLnBrk="1" latinLnBrk="0" hangingPunct="1">
              <a:spcBef>
                <a:spcPct val="20000"/>
              </a:spcBef>
              <a:buFont typeface="Arial" pitchFamily="34" charset="0"/>
              <a:buChar char="–"/>
              <a:defRPr sz="2300" kern="1200">
                <a:solidFill>
                  <a:schemeClr val="tx1"/>
                </a:solidFill>
                <a:latin typeface="Trebuchet MS" pitchFamily="34" charset="0"/>
                <a:ea typeface="+mn-ea"/>
                <a:cs typeface="+mn-cs"/>
              </a:defRPr>
            </a:lvl2pPr>
            <a:lvl3pPr marL="2013561" indent="-559323" algn="l" defTabSz="4295596" rtl="0" eaLnBrk="1" latinLnBrk="0" hangingPunct="1">
              <a:spcBef>
                <a:spcPct val="20000"/>
              </a:spcBef>
              <a:buFont typeface="Arial" pitchFamily="34" charset="0"/>
              <a:buChar char="•"/>
              <a:defRPr sz="2300" kern="1200">
                <a:solidFill>
                  <a:schemeClr val="tx1"/>
                </a:solidFill>
                <a:latin typeface="Trebuchet MS" pitchFamily="34" charset="0"/>
                <a:ea typeface="+mn-ea"/>
                <a:cs typeface="+mn-cs"/>
              </a:defRPr>
            </a:lvl3pPr>
            <a:lvl4pPr marL="2628819" indent="-615258" algn="l" defTabSz="4295596" rtl="0" eaLnBrk="1" latinLnBrk="0" hangingPunct="1">
              <a:spcBef>
                <a:spcPct val="20000"/>
              </a:spcBef>
              <a:buFont typeface="Arial" pitchFamily="34" charset="0"/>
              <a:buChar char="–"/>
              <a:defRPr sz="2300" kern="1200">
                <a:solidFill>
                  <a:schemeClr val="tx1"/>
                </a:solidFill>
                <a:latin typeface="Trebuchet MS" pitchFamily="34" charset="0"/>
                <a:ea typeface="+mn-ea"/>
                <a:cs typeface="+mn-cs"/>
              </a:defRPr>
            </a:lvl4pPr>
            <a:lvl5pPr marL="3076270" indent="-447460" algn="l" defTabSz="4295596" rtl="0" eaLnBrk="1" latinLnBrk="0" hangingPunct="1">
              <a:spcBef>
                <a:spcPct val="20000"/>
              </a:spcBef>
              <a:buFont typeface="Arial" pitchFamily="34" charset="0"/>
              <a:buChar char="»"/>
              <a:defRPr sz="2300" kern="1200">
                <a:solidFill>
                  <a:schemeClr val="tx1"/>
                </a:solidFill>
                <a:latin typeface="Trebuchet MS" pitchFamily="34" charset="0"/>
                <a:ea typeface="+mn-ea"/>
                <a:cs typeface="+mn-cs"/>
              </a:defRPr>
            </a:lvl5pPr>
            <a:lvl6pPr marL="11812887" indent="-1073901" algn="l" defTabSz="4295596"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3960680" indent="-1073901" algn="l" defTabSz="4295596"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108478" indent="-1073901" algn="l" defTabSz="4295596"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256272" indent="-1073901" algn="l" defTabSz="4295596"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defTabSz="3631926">
              <a:defRPr/>
            </a:pPr>
            <a:r>
              <a:rPr lang="en-US" altLang="zh-CN" sz="4400" b="1" kern="100" dirty="0">
                <a:solidFill>
                  <a:prstClr val="black"/>
                </a:solidFill>
                <a:latin typeface="Times New Roman"/>
                <a:cs typeface="Times New Roman"/>
              </a:rPr>
              <a:t>Our contribution:</a:t>
            </a:r>
          </a:p>
          <a:p>
            <a:pPr marL="386308" indent="-386308" algn="just" defTabSz="3631926">
              <a:buFont typeface="Wingdings" charset="2"/>
              <a:buChar char="Ø"/>
              <a:defRPr/>
            </a:pPr>
            <a:r>
              <a:rPr lang="en-US" altLang="zh-CN" sz="4400" kern="100" dirty="0">
                <a:solidFill>
                  <a:prstClr val="black"/>
                </a:solidFill>
                <a:latin typeface="Times New Roman"/>
                <a:cs typeface="Times New Roman"/>
              </a:rPr>
              <a:t>We propose a jointly optimized deep architecture towards reducing the influence of dataset gap between easily acquired web images and the well-labeled data from standard datasets. </a:t>
            </a:r>
          </a:p>
          <a:p>
            <a:pPr marL="386308" indent="-386308" algn="just" defTabSz="3631926">
              <a:buFont typeface="Wingdings" charset="2"/>
              <a:buChar char="Ø"/>
              <a:defRPr/>
            </a:pPr>
            <a:r>
              <a:rPr lang="en-US" altLang="zh-CN" sz="4400" kern="100" dirty="0">
                <a:solidFill>
                  <a:prstClr val="black"/>
                </a:solidFill>
                <a:latin typeface="Times New Roman"/>
                <a:cs typeface="Times New Roman"/>
              </a:rPr>
              <a:t>We conduct extensive experiments on the Food-101, Stanford Dogs and MIT Indoor 67 datasets. The results show that the proposed method is simple yet powerful and achieves state-of-the-art classification results on the three datasets.</a:t>
            </a:r>
          </a:p>
        </p:txBody>
      </p:sp>
      <p:sp>
        <p:nvSpPr>
          <p:cNvPr id="24" name="矩形 23"/>
          <p:cNvSpPr/>
          <p:nvPr/>
        </p:nvSpPr>
        <p:spPr>
          <a:xfrm>
            <a:off x="955517" y="23794764"/>
            <a:ext cx="14667716" cy="5078313"/>
          </a:xfrm>
          <a:prstGeom prst="rect">
            <a:avLst/>
          </a:prstGeom>
        </p:spPr>
        <p:txBody>
          <a:bodyPr wrap="square">
            <a:spAutoFit/>
          </a:bodyPr>
          <a:lstStyle/>
          <a:p>
            <a:pPr algn="just"/>
            <a:r>
              <a:rPr lang="en-US" altLang="zh-CN" sz="4400" dirty="0">
                <a:latin typeface="Times New Roman" panose="02020603050405020304" pitchFamily="18" charset="0"/>
                <a:cs typeface="Times New Roman" panose="02020603050405020304" pitchFamily="18" charset="0"/>
              </a:rPr>
              <a:t>Figure1: </a:t>
            </a:r>
            <a:r>
              <a:rPr lang="en-US" altLang="zh-CN" sz="4000" dirty="0">
                <a:latin typeface="Times New Roman" panose="02020603050405020304" pitchFamily="18" charset="0"/>
                <a:cs typeface="Times New Roman" panose="02020603050405020304" pitchFamily="18" charset="0"/>
              </a:rPr>
              <a:t>Examples from the Stanford Dogs dataset, the web images (Web-Dog) and the L-Dog dataset. Note the Stanford Dogs dataset is well-labeled by users, while the other two datasets are labeled with keywords on the web. The cross dataset training-testing accuracies are shown in the center, where “</a:t>
            </a:r>
            <a:r>
              <a:rPr lang="en-US" altLang="zh-CN" sz="4000" dirty="0" err="1">
                <a:latin typeface="Times New Roman" panose="02020603050405020304" pitchFamily="18" charset="0"/>
                <a:cs typeface="Times New Roman" panose="02020603050405020304" pitchFamily="18" charset="0"/>
              </a:rPr>
              <a:t>Tr</a:t>
            </a:r>
            <a:r>
              <a:rPr lang="en-US" altLang="zh-CN" sz="4000" dirty="0">
                <a:latin typeface="Times New Roman" panose="02020603050405020304" pitchFamily="18" charset="0"/>
                <a:cs typeface="Times New Roman" panose="02020603050405020304" pitchFamily="18" charset="0"/>
              </a:rPr>
              <a:t>” and “</a:t>
            </a:r>
            <a:r>
              <a:rPr lang="en-US" altLang="zh-CN" sz="4000" dirty="0" err="1">
                <a:latin typeface="Times New Roman" panose="02020603050405020304" pitchFamily="18" charset="0"/>
                <a:cs typeface="Times New Roman" panose="02020603050405020304" pitchFamily="18" charset="0"/>
              </a:rPr>
              <a:t>Te</a:t>
            </a:r>
            <a:r>
              <a:rPr lang="en-US" altLang="zh-CN" sz="4000" dirty="0">
                <a:latin typeface="Times New Roman" panose="02020603050405020304" pitchFamily="18" charset="0"/>
                <a:cs typeface="Times New Roman" panose="02020603050405020304" pitchFamily="18" charset="0"/>
              </a:rPr>
              <a:t>” indicate training set and test set respectively. The gap between the results of </a:t>
            </a:r>
            <a:r>
              <a:rPr lang="en-US" altLang="zh-CN" sz="4000" dirty="0" err="1">
                <a:latin typeface="Times New Roman" panose="02020603050405020304" pitchFamily="18" charset="0"/>
                <a:cs typeface="Times New Roman" panose="02020603050405020304" pitchFamily="18" charset="0"/>
              </a:rPr>
              <a:t>Tr</a:t>
            </a:r>
            <a:r>
              <a:rPr lang="en-US" altLang="zh-CN" sz="4000" dirty="0">
                <a:latin typeface="Times New Roman" panose="02020603050405020304" pitchFamily="18" charset="0"/>
                <a:cs typeface="Times New Roman" panose="02020603050405020304" pitchFamily="18" charset="0"/>
              </a:rPr>
              <a:t> and </a:t>
            </a:r>
            <a:r>
              <a:rPr lang="en-US" altLang="zh-CN" sz="4000" dirty="0" err="1">
                <a:latin typeface="Times New Roman" panose="02020603050405020304" pitchFamily="18" charset="0"/>
                <a:cs typeface="Times New Roman" panose="02020603050405020304" pitchFamily="18" charset="0"/>
              </a:rPr>
              <a:t>Te</a:t>
            </a:r>
            <a:r>
              <a:rPr lang="en-US" altLang="zh-CN" sz="4000" dirty="0">
                <a:latin typeface="Times New Roman" panose="02020603050405020304" pitchFamily="18" charset="0"/>
                <a:cs typeface="Times New Roman" panose="02020603050405020304" pitchFamily="18" charset="0"/>
              </a:rPr>
              <a:t> on the same dataset and those of “</a:t>
            </a:r>
            <a:r>
              <a:rPr lang="en-US" altLang="zh-CN" sz="4000" dirty="0" err="1">
                <a:latin typeface="Times New Roman" panose="02020603050405020304" pitchFamily="18" charset="0"/>
                <a:cs typeface="Times New Roman" panose="02020603050405020304" pitchFamily="18" charset="0"/>
              </a:rPr>
              <a:t>Tr</a:t>
            </a:r>
            <a:r>
              <a:rPr lang="en-US" altLang="zh-CN" sz="4000" dirty="0">
                <a:latin typeface="Times New Roman" panose="02020603050405020304" pitchFamily="18" charset="0"/>
                <a:cs typeface="Times New Roman" panose="02020603050405020304" pitchFamily="18" charset="0"/>
              </a:rPr>
              <a:t>” and “</a:t>
            </a:r>
            <a:r>
              <a:rPr lang="en-US" altLang="zh-CN" sz="4000" dirty="0" err="1">
                <a:latin typeface="Times New Roman" panose="02020603050405020304" pitchFamily="18" charset="0"/>
                <a:cs typeface="Times New Roman" panose="02020603050405020304" pitchFamily="18" charset="0"/>
              </a:rPr>
              <a:t>Te</a:t>
            </a:r>
            <a:r>
              <a:rPr lang="en-US" altLang="zh-CN" sz="4000" dirty="0">
                <a:latin typeface="Times New Roman" panose="02020603050405020304" pitchFamily="18" charset="0"/>
                <a:cs typeface="Times New Roman" panose="02020603050405020304" pitchFamily="18" charset="0"/>
              </a:rPr>
              <a:t>” on different datasets shows that these datasets are not generalized well to each other.</a:t>
            </a:r>
            <a:endParaRPr lang="zh-CN" altLang="en-US" sz="4400" dirty="0">
              <a:latin typeface="Times New Roman" panose="02020603050405020304" pitchFamily="18" charset="0"/>
              <a:cs typeface="Times New Roman" panose="02020603050405020304" pitchFamily="18" charset="0"/>
            </a:endParaRPr>
          </a:p>
        </p:txBody>
      </p:sp>
      <p:pic>
        <p:nvPicPr>
          <p:cNvPr id="25" name="图片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03613" y="13353604"/>
            <a:ext cx="12836649" cy="10065253"/>
          </a:xfrm>
          <a:prstGeom prst="rect">
            <a:avLst/>
          </a:prstGeom>
        </p:spPr>
      </p:pic>
      <p:pic>
        <p:nvPicPr>
          <p:cNvPr id="26" name="图片 25"/>
          <p:cNvPicPr>
            <a:picLocks noChangeAspect="1"/>
          </p:cNvPicPr>
          <p:nvPr/>
        </p:nvPicPr>
        <p:blipFill>
          <a:blip r:embed="rId7"/>
          <a:stretch>
            <a:fillRect/>
          </a:stretch>
        </p:blipFill>
        <p:spPr>
          <a:xfrm>
            <a:off x="18503553" y="27720949"/>
            <a:ext cx="13891628" cy="3312000"/>
          </a:xfrm>
          <a:prstGeom prst="rect">
            <a:avLst/>
          </a:prstGeom>
        </p:spPr>
      </p:pic>
      <p:sp>
        <p:nvSpPr>
          <p:cNvPr id="27" name="矩形 26"/>
          <p:cNvSpPr/>
          <p:nvPr/>
        </p:nvSpPr>
        <p:spPr>
          <a:xfrm>
            <a:off x="17567450" y="31271076"/>
            <a:ext cx="16471725" cy="2277547"/>
          </a:xfrm>
          <a:prstGeom prst="rect">
            <a:avLst/>
          </a:prstGeom>
        </p:spPr>
        <p:txBody>
          <a:bodyPr wrap="square">
            <a:spAutoFit/>
          </a:bodyPr>
          <a:lstStyle/>
          <a:p>
            <a:pPr marL="457200" indent="-457200">
              <a:spcAft>
                <a:spcPts val="1200"/>
              </a:spcAft>
              <a:buFont typeface="Wingdings" panose="05000000000000000000" pitchFamily="2" charset="2"/>
              <a:buChar char="Ø"/>
            </a:pPr>
            <a:r>
              <a:rPr lang="en-US" altLang="zh-CN" sz="4400" b="1" kern="100" dirty="0">
                <a:solidFill>
                  <a:srgbClr val="00246C"/>
                </a:solidFill>
                <a:latin typeface="Times New Roman"/>
                <a:cs typeface="Times New Roman"/>
              </a:rPr>
              <a:t>Multi-task Learning </a:t>
            </a:r>
          </a:p>
          <a:p>
            <a:pPr marL="457200" indent="-457200">
              <a:buFont typeface="Arial" panose="020B0604020202020204" pitchFamily="34" charset="0"/>
              <a:buChar char="•"/>
            </a:pPr>
            <a:r>
              <a:rPr lang="en-US" altLang="zh-CN" sz="4400" kern="100" dirty="0">
                <a:solidFill>
                  <a:prstClr val="black"/>
                </a:solidFill>
                <a:latin typeface="Times New Roman"/>
                <a:cs typeface="Times New Roman"/>
              </a:rPr>
              <a:t>minimizing the joint loss function:</a:t>
            </a:r>
            <a:endParaRPr lang="en-US" altLang="zh-CN" sz="4800" kern="100" dirty="0">
              <a:solidFill>
                <a:prstClr val="black"/>
              </a:solidFill>
              <a:latin typeface="Times New Roman"/>
              <a:cs typeface="Times New Roman"/>
            </a:endParaRPr>
          </a:p>
          <a:p>
            <a:pPr marL="457200" indent="-457200">
              <a:buFont typeface="Arial" panose="020B0604020202020204" pitchFamily="34" charset="0"/>
              <a:buChar char="•"/>
            </a:pPr>
            <a:r>
              <a:rPr lang="en-US" altLang="zh-CN" sz="4400" kern="100" dirty="0">
                <a:solidFill>
                  <a:prstClr val="black"/>
                </a:solidFill>
                <a:latin typeface="Times New Roman"/>
                <a:cs typeface="Times New Roman"/>
              </a:rPr>
              <a:t>parameter λ controls the trade-off between the two losses</a:t>
            </a:r>
            <a:endParaRPr lang="zh-CN" altLang="en-US" sz="4400" kern="100" dirty="0">
              <a:solidFill>
                <a:prstClr val="black"/>
              </a:solidFill>
              <a:latin typeface="Times New Roman"/>
              <a:cs typeface="Times New Roman"/>
            </a:endParaRPr>
          </a:p>
        </p:txBody>
      </p:sp>
      <p:pic>
        <p:nvPicPr>
          <p:cNvPr id="28" name="图片 2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063393" y="6141167"/>
            <a:ext cx="16927207" cy="7560000"/>
          </a:xfrm>
          <a:prstGeom prst="rect">
            <a:avLst/>
          </a:prstGeom>
        </p:spPr>
      </p:pic>
      <p:pic>
        <p:nvPicPr>
          <p:cNvPr id="29" name="图片 28"/>
          <p:cNvPicPr>
            <a:picLocks noChangeAspect="1"/>
          </p:cNvPicPr>
          <p:nvPr/>
        </p:nvPicPr>
        <p:blipFill>
          <a:blip r:embed="rId9"/>
          <a:stretch>
            <a:fillRect/>
          </a:stretch>
        </p:blipFill>
        <p:spPr>
          <a:xfrm>
            <a:off x="18467113" y="22126060"/>
            <a:ext cx="14141111" cy="1980000"/>
          </a:xfrm>
          <a:prstGeom prst="rect">
            <a:avLst/>
          </a:prstGeom>
        </p:spPr>
      </p:pic>
      <p:sp>
        <p:nvSpPr>
          <p:cNvPr id="30" name="矩形 29"/>
          <p:cNvSpPr/>
          <p:nvPr/>
        </p:nvSpPr>
        <p:spPr>
          <a:xfrm>
            <a:off x="17567450" y="19615691"/>
            <a:ext cx="15923585" cy="2277547"/>
          </a:xfrm>
          <a:prstGeom prst="rect">
            <a:avLst/>
          </a:prstGeom>
        </p:spPr>
        <p:txBody>
          <a:bodyPr wrap="square">
            <a:spAutoFit/>
          </a:bodyPr>
          <a:lstStyle/>
          <a:p>
            <a:pPr marL="457200" indent="-457200">
              <a:spcAft>
                <a:spcPts val="1200"/>
              </a:spcAft>
              <a:buFont typeface="Wingdings" panose="05000000000000000000" pitchFamily="2" charset="2"/>
              <a:buChar char="Ø"/>
            </a:pPr>
            <a:r>
              <a:rPr lang="en-US" altLang="zh-CN" sz="4400" b="1" kern="100" dirty="0">
                <a:solidFill>
                  <a:srgbClr val="00246C"/>
                </a:solidFill>
                <a:latin typeface="Times New Roman"/>
                <a:cs typeface="Times New Roman"/>
              </a:rPr>
              <a:t>Standard Classification </a:t>
            </a:r>
            <a:endParaRPr lang="en-US" altLang="zh-CN" sz="4400" kern="100" dirty="0">
              <a:solidFill>
                <a:prstClr val="black"/>
              </a:solidFill>
              <a:latin typeface="Times New Roman"/>
              <a:cs typeface="Times New Roman"/>
            </a:endParaRPr>
          </a:p>
          <a:p>
            <a:pPr marL="457200" indent="-457200">
              <a:buFont typeface="Arial" panose="020B0604020202020204" pitchFamily="34" charset="0"/>
              <a:buChar char="•"/>
            </a:pPr>
            <a:r>
              <a:rPr lang="en-US" altLang="zh-CN" sz="4400" kern="100" dirty="0">
                <a:solidFill>
                  <a:prstClr val="black"/>
                </a:solidFill>
                <a:latin typeface="Times New Roman"/>
                <a:cs typeface="Times New Roman"/>
              </a:rPr>
              <a:t>using the standard </a:t>
            </a:r>
            <a:r>
              <a:rPr lang="en-US" altLang="zh-CN" sz="4400" kern="100" dirty="0" err="1">
                <a:solidFill>
                  <a:prstClr val="black"/>
                </a:solidFill>
                <a:latin typeface="Times New Roman"/>
                <a:cs typeface="Times New Roman"/>
              </a:rPr>
              <a:t>softmax</a:t>
            </a:r>
            <a:r>
              <a:rPr lang="en-US" altLang="zh-CN" sz="4400" kern="100" dirty="0">
                <a:solidFill>
                  <a:prstClr val="black"/>
                </a:solidFill>
                <a:latin typeface="Times New Roman"/>
                <a:cs typeface="Times New Roman"/>
              </a:rPr>
              <a:t> loss for object classification during both training and testing stages:</a:t>
            </a:r>
            <a:endParaRPr lang="zh-CN" altLang="en-US" sz="4400" kern="100" dirty="0">
              <a:solidFill>
                <a:prstClr val="black"/>
              </a:solidFill>
              <a:latin typeface="Times New Roman"/>
              <a:cs typeface="Times New Roman"/>
            </a:endParaRPr>
          </a:p>
        </p:txBody>
      </p:sp>
      <p:sp>
        <p:nvSpPr>
          <p:cNvPr id="31" name="矩形 30"/>
          <p:cNvSpPr/>
          <p:nvPr/>
        </p:nvSpPr>
        <p:spPr>
          <a:xfrm>
            <a:off x="17567450" y="24677223"/>
            <a:ext cx="15923585" cy="2954655"/>
          </a:xfrm>
          <a:prstGeom prst="rect">
            <a:avLst/>
          </a:prstGeom>
        </p:spPr>
        <p:txBody>
          <a:bodyPr wrap="square">
            <a:spAutoFit/>
          </a:bodyPr>
          <a:lstStyle/>
          <a:p>
            <a:pPr marL="457200" indent="-457200">
              <a:spcAft>
                <a:spcPts val="1200"/>
              </a:spcAft>
              <a:buFont typeface="Wingdings" panose="05000000000000000000" pitchFamily="2" charset="2"/>
              <a:buChar char="Ø"/>
            </a:pPr>
            <a:r>
              <a:rPr lang="en-US" altLang="zh-CN" sz="4400" b="1" kern="100" dirty="0">
                <a:solidFill>
                  <a:srgbClr val="00246C"/>
                </a:solidFill>
                <a:latin typeface="Times New Roman"/>
                <a:cs typeface="Times New Roman"/>
              </a:rPr>
              <a:t>Source Classification </a:t>
            </a:r>
          </a:p>
          <a:p>
            <a:pPr marL="457200" indent="-457200">
              <a:buFont typeface="Arial" panose="020B0604020202020204" pitchFamily="34" charset="0"/>
              <a:buChar char="•"/>
            </a:pPr>
            <a:r>
              <a:rPr lang="en-US" altLang="zh-CN" sz="4400" kern="100" dirty="0">
                <a:solidFill>
                  <a:prstClr val="black"/>
                </a:solidFill>
                <a:latin typeface="Times New Roman"/>
                <a:cs typeface="Times New Roman"/>
              </a:rPr>
              <a:t>distinguishing the data from the standard and web datasets during the training stage</a:t>
            </a:r>
          </a:p>
          <a:p>
            <a:pPr marL="457200" indent="-457200">
              <a:buFont typeface="Arial" panose="020B0604020202020204" pitchFamily="34" charset="0"/>
              <a:buChar char="•"/>
            </a:pPr>
            <a:r>
              <a:rPr lang="en-US" altLang="zh-CN" sz="4400" kern="100" dirty="0">
                <a:solidFill>
                  <a:prstClr val="black"/>
                </a:solidFill>
                <a:latin typeface="Times New Roman"/>
                <a:cs typeface="Times New Roman"/>
              </a:rPr>
              <a:t>maximizing the log-likelihood loss for domain classification:</a:t>
            </a:r>
            <a:endParaRPr lang="zh-CN" altLang="en-US" sz="4400" kern="100" dirty="0">
              <a:solidFill>
                <a:prstClr val="black"/>
              </a:solidFill>
              <a:latin typeface="Times New Roman"/>
              <a:cs typeface="Times New Roman"/>
            </a:endParaRPr>
          </a:p>
        </p:txBody>
      </p:sp>
      <mc:AlternateContent xmlns:mc="http://schemas.openxmlformats.org/markup-compatibility/2006" xmlns:a14="http://schemas.microsoft.com/office/drawing/2010/main">
        <mc:Choice Requires="a14">
          <p:sp>
            <p:nvSpPr>
              <p:cNvPr id="8" name="矩形 7"/>
              <p:cNvSpPr/>
              <p:nvPr/>
            </p:nvSpPr>
            <p:spPr>
              <a:xfrm>
                <a:off x="17435035" y="13823405"/>
                <a:ext cx="16056000" cy="5194884"/>
              </a:xfrm>
              <a:prstGeom prst="rect">
                <a:avLst/>
              </a:prstGeom>
            </p:spPr>
            <p:txBody>
              <a:bodyPr wrap="square">
                <a:spAutoFit/>
              </a:bodyPr>
              <a:lstStyle/>
              <a:p>
                <a:pPr algn="just"/>
                <a:r>
                  <a:rPr lang="en-US" altLang="zh-CN" sz="4400" dirty="0">
                    <a:latin typeface="Times New Roman" panose="02020603050405020304" pitchFamily="18" charset="0"/>
                    <a:cs typeface="Times New Roman" panose="02020603050405020304" pitchFamily="18" charset="0"/>
                  </a:rPr>
                  <a:t>Figure 2: </a:t>
                </a:r>
                <a:r>
                  <a:rPr lang="en-US" altLang="zh-CN" sz="4000" dirty="0">
                    <a:latin typeface="Times New Roman" panose="02020603050405020304" pitchFamily="18" charset="0"/>
                    <a:cs typeface="Times New Roman" panose="02020603050405020304" pitchFamily="18" charset="0"/>
                  </a:rPr>
                  <a:t>Overview of the proposed method. (a) web and target training data is the input to (b) convolutional neural networks. (c) joint optimization for label prediction and source classification. </a:t>
                </a:r>
                <a14:m>
                  <m:oMath xmlns:m="http://schemas.openxmlformats.org/officeDocument/2006/math">
                    <m:sSub>
                      <m:sSubPr>
                        <m:ctrlPr>
                          <a:rPr lang="en-US" altLang="zh-CN" sz="4000" b="1" i="1" dirty="0" smtClean="0">
                            <a:latin typeface="Cambria Math" panose="02040503050406030204" pitchFamily="18" charset="0"/>
                            <a:cs typeface="Times New Roman" panose="02020603050405020304" pitchFamily="18" charset="0"/>
                          </a:rPr>
                        </m:ctrlPr>
                      </m:sSubPr>
                      <m:e>
                        <m:r>
                          <a:rPr lang="en-US" altLang="zh-CN" sz="4000" b="1" i="1" dirty="0">
                            <a:latin typeface="Cambria Math"/>
                            <a:cs typeface="Times New Roman" panose="02020603050405020304" pitchFamily="18" charset="0"/>
                          </a:rPr>
                          <m:t>𝑳</m:t>
                        </m:r>
                      </m:e>
                      <m:sub>
                        <m:r>
                          <a:rPr lang="en-US" altLang="zh-CN" sz="4000" b="1" i="1" dirty="0">
                            <a:latin typeface="Cambria Math"/>
                            <a:cs typeface="Times New Roman" panose="02020603050405020304" pitchFamily="18" charset="0"/>
                          </a:rPr>
                          <m:t>𝒄</m:t>
                        </m:r>
                      </m:sub>
                    </m:sSub>
                  </m:oMath>
                </a14:m>
                <a:r>
                  <a:rPr lang="en-US" altLang="zh-CN" sz="4000" dirty="0">
                    <a:latin typeface="Times New Roman" panose="02020603050405020304" pitchFamily="18" charset="0"/>
                    <a:cs typeface="Times New Roman" panose="02020603050405020304" pitchFamily="18" charset="0"/>
                  </a:rPr>
                  <a:t> is the loss for label prediction and </a:t>
                </a:r>
                <a14:m>
                  <m:oMath xmlns:m="http://schemas.openxmlformats.org/officeDocument/2006/math">
                    <m:sSub>
                      <m:sSubPr>
                        <m:ctrlPr>
                          <a:rPr lang="en-US" altLang="zh-CN" sz="4000" b="1" i="1" dirty="0">
                            <a:latin typeface="Cambria Math" panose="02040503050406030204" pitchFamily="18" charset="0"/>
                            <a:cs typeface="Times New Roman" panose="02020603050405020304" pitchFamily="18" charset="0"/>
                          </a:rPr>
                        </m:ctrlPr>
                      </m:sSubPr>
                      <m:e>
                        <m:r>
                          <a:rPr lang="en-US" altLang="zh-CN" sz="4000" b="1" i="1" dirty="0">
                            <a:latin typeface="Cambria Math"/>
                            <a:cs typeface="Times New Roman" panose="02020603050405020304" pitchFamily="18" charset="0"/>
                          </a:rPr>
                          <m:t>𝑳</m:t>
                        </m:r>
                      </m:e>
                      <m:sub>
                        <m:r>
                          <a:rPr lang="en-US" altLang="zh-CN" sz="4000" b="1" i="1" dirty="0" smtClean="0">
                            <a:latin typeface="Cambria Math"/>
                            <a:cs typeface="Times New Roman" panose="02020603050405020304" pitchFamily="18" charset="0"/>
                          </a:rPr>
                          <m:t>𝒅</m:t>
                        </m:r>
                      </m:sub>
                    </m:sSub>
                  </m:oMath>
                </a14:m>
                <a:r>
                  <a:rPr lang="en-US" altLang="zh-CN" sz="4000" dirty="0">
                    <a:latin typeface="Times New Roman" panose="02020603050405020304" pitchFamily="18" charset="0"/>
                    <a:cs typeface="Times New Roman" panose="02020603050405020304" pitchFamily="18" charset="0"/>
                  </a:rPr>
                  <a:t> is the loss for source classification. </a:t>
                </a:r>
                <a14:m>
                  <m:oMath xmlns:m="http://schemas.openxmlformats.org/officeDocument/2006/math">
                    <m:r>
                      <a:rPr lang="en-US" altLang="zh-CN" sz="4000" b="1" i="1" smtClean="0">
                        <a:latin typeface="Cambria Math"/>
                        <a:cs typeface="Times New Roman" panose="02020603050405020304" pitchFamily="18" charset="0"/>
                      </a:rPr>
                      <m:t>𝑳</m:t>
                    </m:r>
                    <m:r>
                      <a:rPr lang="en-US" altLang="zh-CN" sz="4000" b="1" i="1" smtClean="0">
                        <a:latin typeface="Cambria Math"/>
                        <a:cs typeface="Times New Roman" panose="02020603050405020304" pitchFamily="18" charset="0"/>
                      </a:rPr>
                      <m:t>(</m:t>
                    </m:r>
                    <m:sSub>
                      <m:sSubPr>
                        <m:ctrlPr>
                          <a:rPr lang="en-US" altLang="zh-CN" sz="4000" b="1" i="1" dirty="0">
                            <a:latin typeface="Cambria Math" panose="02040503050406030204" pitchFamily="18" charset="0"/>
                            <a:cs typeface="Times New Roman" panose="02020603050405020304" pitchFamily="18" charset="0"/>
                          </a:rPr>
                        </m:ctrlPr>
                      </m:sSubPr>
                      <m:e>
                        <m:r>
                          <m:rPr>
                            <m:nor/>
                          </m:rPr>
                          <a:rPr lang="en-US" altLang="zh-CN" sz="4000" b="1" dirty="0">
                            <a:latin typeface="Times New Roman" panose="02020603050405020304" pitchFamily="18" charset="0"/>
                            <a:cs typeface="Times New Roman" panose="02020603050405020304" pitchFamily="18" charset="0"/>
                          </a:rPr>
                          <m:t>θ</m:t>
                        </m:r>
                      </m:e>
                      <m:sub>
                        <m:r>
                          <a:rPr lang="en-US" altLang="zh-CN" sz="4000" b="1" i="1" dirty="0" smtClean="0">
                            <a:latin typeface="Cambria Math"/>
                            <a:cs typeface="Times New Roman" panose="02020603050405020304" pitchFamily="18" charset="0"/>
                          </a:rPr>
                          <m:t>𝒇</m:t>
                        </m:r>
                      </m:sub>
                    </m:sSub>
                    <m:r>
                      <a:rPr lang="en-US" altLang="zh-CN" sz="4000" b="1" i="1" dirty="0" smtClean="0">
                        <a:latin typeface="Cambria Math"/>
                        <a:cs typeface="Times New Roman" panose="02020603050405020304" pitchFamily="18" charset="0"/>
                      </a:rPr>
                      <m:t>,</m:t>
                    </m:r>
                    <m:sSub>
                      <m:sSubPr>
                        <m:ctrlPr>
                          <a:rPr lang="en-US" altLang="zh-CN" sz="4000" b="1" i="1" dirty="0">
                            <a:latin typeface="Cambria Math" panose="02040503050406030204" pitchFamily="18" charset="0"/>
                            <a:cs typeface="Times New Roman" panose="02020603050405020304" pitchFamily="18" charset="0"/>
                          </a:rPr>
                        </m:ctrlPr>
                      </m:sSubPr>
                      <m:e>
                        <m:r>
                          <m:rPr>
                            <m:nor/>
                          </m:rPr>
                          <a:rPr lang="en-US" altLang="zh-CN" sz="4000" b="1" dirty="0">
                            <a:latin typeface="Times New Roman" panose="02020603050405020304" pitchFamily="18" charset="0"/>
                            <a:cs typeface="Times New Roman" panose="02020603050405020304" pitchFamily="18" charset="0"/>
                          </a:rPr>
                          <m:t>θ</m:t>
                        </m:r>
                      </m:e>
                      <m:sub>
                        <m:r>
                          <a:rPr lang="en-US" altLang="zh-CN" sz="4000" b="1" i="1" dirty="0">
                            <a:latin typeface="Cambria Math"/>
                            <a:cs typeface="Times New Roman" panose="02020603050405020304" pitchFamily="18" charset="0"/>
                          </a:rPr>
                          <m:t>𝒄</m:t>
                        </m:r>
                      </m:sub>
                    </m:sSub>
                    <m:r>
                      <a:rPr lang="en-US" altLang="zh-CN" sz="4000" b="1" i="1" dirty="0" smtClean="0">
                        <a:latin typeface="Cambria Math"/>
                        <a:cs typeface="Times New Roman" panose="02020603050405020304" pitchFamily="18" charset="0"/>
                      </a:rPr>
                      <m:t>,</m:t>
                    </m:r>
                    <m:sSub>
                      <m:sSubPr>
                        <m:ctrlPr>
                          <a:rPr lang="en-US" altLang="zh-CN" sz="4000" b="1" i="1" dirty="0">
                            <a:latin typeface="Cambria Math" panose="02040503050406030204" pitchFamily="18" charset="0"/>
                            <a:cs typeface="Times New Roman" panose="02020603050405020304" pitchFamily="18" charset="0"/>
                          </a:rPr>
                        </m:ctrlPr>
                      </m:sSubPr>
                      <m:e>
                        <m:r>
                          <m:rPr>
                            <m:nor/>
                          </m:rPr>
                          <a:rPr lang="en-US" altLang="zh-CN" sz="4000" b="1" dirty="0">
                            <a:latin typeface="Times New Roman" panose="02020603050405020304" pitchFamily="18" charset="0"/>
                            <a:cs typeface="Times New Roman" panose="02020603050405020304" pitchFamily="18" charset="0"/>
                          </a:rPr>
                          <m:t>θ</m:t>
                        </m:r>
                      </m:e>
                      <m:sub>
                        <m:r>
                          <a:rPr lang="en-US" altLang="zh-CN" sz="4000" b="1" i="1" dirty="0" smtClean="0">
                            <a:latin typeface="Cambria Math"/>
                            <a:cs typeface="Times New Roman" panose="02020603050405020304" pitchFamily="18" charset="0"/>
                          </a:rPr>
                          <m:t>𝒅</m:t>
                        </m:r>
                      </m:sub>
                    </m:sSub>
                    <m:r>
                      <a:rPr lang="en-US" altLang="zh-CN" sz="4000" b="1" i="1" smtClean="0">
                        <a:latin typeface="Cambria Math"/>
                        <a:cs typeface="Times New Roman" panose="02020603050405020304" pitchFamily="18" charset="0"/>
                      </a:rPr>
                      <m:t>)</m:t>
                    </m:r>
                  </m:oMath>
                </a14:m>
                <a:r>
                  <a:rPr lang="en-US" altLang="zh-CN" sz="4000" b="1"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is the joint loss, which influences the parameters by back propagation. </a:t>
                </a:r>
                <a14:m>
                  <m:oMath xmlns:m="http://schemas.openxmlformats.org/officeDocument/2006/math">
                    <m:sSub>
                      <m:sSubPr>
                        <m:ctrlPr>
                          <a:rPr lang="en-US" altLang="zh-CN" sz="4000" b="1" i="1" dirty="0">
                            <a:latin typeface="Cambria Math" panose="02040503050406030204" pitchFamily="18" charset="0"/>
                            <a:cs typeface="Times New Roman" panose="02020603050405020304" pitchFamily="18" charset="0"/>
                          </a:rPr>
                        </m:ctrlPr>
                      </m:sSubPr>
                      <m:e>
                        <m:r>
                          <a:rPr lang="en-US" altLang="zh-CN" sz="4000" b="1" i="1" dirty="0">
                            <a:latin typeface="Cambria Math"/>
                            <a:cs typeface="Times New Roman" panose="02020603050405020304" pitchFamily="18" charset="0"/>
                          </a:rPr>
                          <m:t>𝑳</m:t>
                        </m:r>
                      </m:e>
                      <m:sub>
                        <m:r>
                          <a:rPr lang="en-US" altLang="zh-CN" sz="4000" b="1" i="1" dirty="0">
                            <a:latin typeface="Cambria Math"/>
                            <a:cs typeface="Times New Roman" panose="02020603050405020304" pitchFamily="18" charset="0"/>
                          </a:rPr>
                          <m:t>𝒅</m:t>
                        </m:r>
                      </m:sub>
                    </m:sSub>
                  </m:oMath>
                </a14:m>
                <a:r>
                  <a:rPr lang="en-US" altLang="zh-CN" sz="4000" dirty="0">
                    <a:latin typeface="Times New Roman" panose="02020603050405020304" pitchFamily="18" charset="0"/>
                    <a:cs typeface="Times New Roman" panose="02020603050405020304" pitchFamily="18" charset="0"/>
                  </a:rPr>
                  <a:t> is preceded by a minus sign, so </a:t>
                </a:r>
                <a14:m>
                  <m:oMath xmlns:m="http://schemas.openxmlformats.org/officeDocument/2006/math">
                    <m:sSub>
                      <m:sSubPr>
                        <m:ctrlPr>
                          <a:rPr lang="en-US" altLang="zh-CN" sz="4000" b="1" i="1" dirty="0">
                            <a:latin typeface="Cambria Math" panose="02040503050406030204" pitchFamily="18" charset="0"/>
                            <a:cs typeface="Times New Roman" panose="02020603050405020304" pitchFamily="18" charset="0"/>
                          </a:rPr>
                        </m:ctrlPr>
                      </m:sSubPr>
                      <m:e>
                        <m:r>
                          <m:rPr>
                            <m:nor/>
                          </m:rPr>
                          <a:rPr lang="en-US" altLang="zh-CN" sz="4000" b="1" dirty="0">
                            <a:latin typeface="Times New Roman" panose="02020603050405020304" pitchFamily="18" charset="0"/>
                            <a:cs typeface="Times New Roman" panose="02020603050405020304" pitchFamily="18" charset="0"/>
                          </a:rPr>
                          <m:t>θ</m:t>
                        </m:r>
                      </m:e>
                      <m:sub>
                        <m:r>
                          <a:rPr lang="en-US" altLang="zh-CN" sz="4000" b="1" i="1" dirty="0">
                            <a:latin typeface="Cambria Math"/>
                            <a:cs typeface="Times New Roman" panose="02020603050405020304" pitchFamily="18" charset="0"/>
                          </a:rPr>
                          <m:t>𝒇</m:t>
                        </m:r>
                      </m:sub>
                    </m:sSub>
                  </m:oMath>
                </a14:m>
                <a:r>
                  <a:rPr lang="en-US" altLang="zh-CN" sz="4000" dirty="0">
                    <a:latin typeface="Times New Roman" panose="02020603050405020304" pitchFamily="18" charset="0"/>
                    <a:cs typeface="Times New Roman" panose="02020603050405020304" pitchFamily="18" charset="0"/>
                  </a:rPr>
                  <a:t> aims to maximize </a:t>
                </a:r>
                <a14:m>
                  <m:oMath xmlns:m="http://schemas.openxmlformats.org/officeDocument/2006/math">
                    <m:sSub>
                      <m:sSubPr>
                        <m:ctrlPr>
                          <a:rPr lang="en-US" altLang="zh-CN" sz="4000" b="1" i="1" dirty="0">
                            <a:latin typeface="Cambria Math" panose="02040503050406030204" pitchFamily="18" charset="0"/>
                            <a:cs typeface="Times New Roman" panose="02020603050405020304" pitchFamily="18" charset="0"/>
                          </a:rPr>
                        </m:ctrlPr>
                      </m:sSubPr>
                      <m:e>
                        <m:r>
                          <a:rPr lang="en-US" altLang="zh-CN" sz="4000" b="1" i="1" dirty="0">
                            <a:latin typeface="Cambria Math"/>
                            <a:cs typeface="Times New Roman" panose="02020603050405020304" pitchFamily="18" charset="0"/>
                          </a:rPr>
                          <m:t>𝑳</m:t>
                        </m:r>
                      </m:e>
                      <m:sub>
                        <m:r>
                          <a:rPr lang="en-US" altLang="zh-CN" sz="4000" b="1" i="1" dirty="0">
                            <a:latin typeface="Cambria Math"/>
                            <a:cs typeface="Times New Roman" panose="02020603050405020304" pitchFamily="18" charset="0"/>
                          </a:rPr>
                          <m:t>𝒅</m:t>
                        </m:r>
                      </m:sub>
                    </m:sSub>
                  </m:oMath>
                </a14:m>
                <a:r>
                  <a:rPr lang="en-US" altLang="zh-CN" sz="4000" dirty="0">
                    <a:latin typeface="Times New Roman" panose="02020603050405020304" pitchFamily="18" charset="0"/>
                    <a:cs typeface="Times New Roman" panose="02020603050405020304" pitchFamily="18" charset="0"/>
                  </a:rPr>
                  <a:t> , which means that the feature from the shared convolutional layers becomes more and more consistent for web and target data</a:t>
                </a:r>
                <a:endParaRPr lang="zh-CN" altLang="en-US" sz="4000" dirty="0">
                  <a:latin typeface="Times New Roman" panose="02020603050405020304" pitchFamily="18" charset="0"/>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17435035" y="13823405"/>
                <a:ext cx="16056000" cy="5194884"/>
              </a:xfrm>
              <a:prstGeom prst="rect">
                <a:avLst/>
              </a:prstGeom>
              <a:blipFill rotWithShape="1">
                <a:blip r:embed="rId10"/>
                <a:stretch>
                  <a:fillRect l="-1519" t="-2230" r="-1367" b="-4108"/>
                </a:stretch>
              </a:blipFill>
            </p:spPr>
            <p:txBody>
              <a:bodyPr/>
              <a:lstStyle/>
              <a:p>
                <a:r>
                  <a:rPr lang="zh-CN" altLang="en-US">
                    <a:noFill/>
                  </a:rPr>
                  <a:t> </a:t>
                </a:r>
              </a:p>
            </p:txBody>
          </p:sp>
        </mc:Fallback>
      </mc:AlternateContent>
      <p:pic>
        <p:nvPicPr>
          <p:cNvPr id="32" name="图片 31"/>
          <p:cNvPicPr>
            <a:picLocks noChangeAspect="1"/>
          </p:cNvPicPr>
          <p:nvPr/>
        </p:nvPicPr>
        <p:blipFill>
          <a:blip r:embed="rId11"/>
          <a:stretch>
            <a:fillRect/>
          </a:stretch>
        </p:blipFill>
        <p:spPr>
          <a:xfrm>
            <a:off x="36360856" y="16631717"/>
            <a:ext cx="12748312" cy="15436370"/>
          </a:xfrm>
          <a:prstGeom prst="rect">
            <a:avLst/>
          </a:prstGeom>
        </p:spPr>
      </p:pic>
      <p:pic>
        <p:nvPicPr>
          <p:cNvPr id="33" name="图片 3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832005" y="5844891"/>
            <a:ext cx="15843984" cy="6984000"/>
          </a:xfrm>
          <a:prstGeom prst="rect">
            <a:avLst/>
          </a:prstGeom>
        </p:spPr>
      </p:pic>
      <p:sp>
        <p:nvSpPr>
          <p:cNvPr id="34" name="矩形 33"/>
          <p:cNvSpPr/>
          <p:nvPr/>
        </p:nvSpPr>
        <p:spPr>
          <a:xfrm>
            <a:off x="35227629" y="12893755"/>
            <a:ext cx="15121680" cy="3785652"/>
          </a:xfrm>
          <a:prstGeom prst="rect">
            <a:avLst/>
          </a:prstGeom>
          <a:ln>
            <a:noFill/>
          </a:ln>
        </p:spPr>
        <p:txBody>
          <a:bodyPr wrap="square">
            <a:spAutoFit/>
          </a:bodyPr>
          <a:lstStyle/>
          <a:p>
            <a:pPr algn="just"/>
            <a:r>
              <a:rPr lang="en-US" altLang="zh-CN" sz="4000" dirty="0">
                <a:latin typeface="Times New Roman" panose="02020603050405020304" pitchFamily="18" charset="0"/>
                <a:cs typeface="Times New Roman" panose="02020603050405020304" pitchFamily="18" charset="0"/>
              </a:rPr>
              <a:t>Figure3: Effect of adaptation on the distribution of the extracted features. The figure shows t-SNE visualizations of the CNN s activations (a) in the case when no joint optimization is performed and (b) in the case when our joint loss is incorporated into training. Blue points correspond to the examples from web dataset, while yellow ones correspond to the standard dataset. </a:t>
            </a:r>
          </a:p>
        </p:txBody>
      </p:sp>
      <p:sp>
        <p:nvSpPr>
          <p:cNvPr id="35" name="矩形 34"/>
          <p:cNvSpPr/>
          <p:nvPr/>
        </p:nvSpPr>
        <p:spPr>
          <a:xfrm>
            <a:off x="35227630" y="32113437"/>
            <a:ext cx="15121680" cy="3170099"/>
          </a:xfrm>
          <a:prstGeom prst="rect">
            <a:avLst/>
          </a:prstGeom>
        </p:spPr>
        <p:txBody>
          <a:bodyPr wrap="square">
            <a:spAutoFit/>
          </a:bodyPr>
          <a:lstStyle/>
          <a:p>
            <a:pPr algn="just"/>
            <a:r>
              <a:rPr lang="en-US" altLang="zh-CN" sz="4000" dirty="0">
                <a:latin typeface="Times New Roman" panose="02020603050405020304" pitchFamily="18" charset="0"/>
                <a:cs typeface="Times New Roman" panose="02020603050405020304" pitchFamily="18" charset="0"/>
              </a:rPr>
              <a:t>Table1: Classification accuracies on four datasets with different methods. </a:t>
            </a:r>
            <a:r>
              <a:rPr lang="en-US" altLang="zh-CN" sz="4000" dirty="0" err="1">
                <a:latin typeface="Times New Roman" panose="02020603050405020304" pitchFamily="18" charset="0"/>
                <a:cs typeface="Times New Roman" panose="02020603050405020304" pitchFamily="18" charset="0"/>
              </a:rPr>
              <a:t>D_clean</a:t>
            </a:r>
            <a:r>
              <a:rPr lang="en-US" altLang="zh-CN" sz="4000" dirty="0">
                <a:latin typeface="Times New Roman" panose="02020603050405020304" pitchFamily="18" charset="0"/>
                <a:cs typeface="Times New Roman" panose="02020603050405020304" pitchFamily="18" charset="0"/>
              </a:rPr>
              <a:t> and </a:t>
            </a:r>
            <a:r>
              <a:rPr lang="en-US" altLang="zh-CN" sz="4000" dirty="0" err="1">
                <a:latin typeface="Times New Roman" panose="02020603050405020304" pitchFamily="18" charset="0"/>
                <a:cs typeface="Times New Roman" panose="02020603050405020304" pitchFamily="18" charset="0"/>
              </a:rPr>
              <a:t>D_mix</a:t>
            </a:r>
            <a:r>
              <a:rPr lang="en-US" altLang="zh-CN" sz="4000" dirty="0">
                <a:latin typeface="Times New Roman" panose="02020603050405020304" pitchFamily="18" charset="0"/>
                <a:cs typeface="Times New Roman" panose="02020603050405020304" pitchFamily="18" charset="0"/>
              </a:rPr>
              <a:t> represent clean data and mixed data. </a:t>
            </a:r>
            <a:r>
              <a:rPr lang="en-US" altLang="zh-CN" sz="4000" dirty="0" err="1">
                <a:latin typeface="Times New Roman" panose="02020603050405020304" pitchFamily="18" charset="0"/>
                <a:cs typeface="Times New Roman" panose="02020603050405020304" pitchFamily="18" charset="0"/>
              </a:rPr>
              <a:t>D_filter</a:t>
            </a:r>
            <a:r>
              <a:rPr lang="en-US" altLang="zh-CN" sz="4000" dirty="0">
                <a:latin typeface="Times New Roman" panose="02020603050405020304" pitchFamily="18" charset="0"/>
                <a:cs typeface="Times New Roman" panose="02020603050405020304" pitchFamily="18" charset="0"/>
              </a:rPr>
              <a:t> denotes that the web data is filtered from </a:t>
            </a:r>
            <a:r>
              <a:rPr lang="en-US" altLang="zh-CN" sz="4000" dirty="0" err="1">
                <a:latin typeface="Times New Roman" panose="02020603050405020304" pitchFamily="18" charset="0"/>
                <a:cs typeface="Times New Roman" panose="02020603050405020304" pitchFamily="18" charset="0"/>
              </a:rPr>
              <a:t>D_mix</a:t>
            </a:r>
            <a:r>
              <a:rPr lang="en-US" altLang="zh-CN" sz="4000" dirty="0">
                <a:latin typeface="Times New Roman" panose="02020603050405020304" pitchFamily="18" charset="0"/>
                <a:cs typeface="Times New Roman" panose="02020603050405020304" pitchFamily="18" charset="0"/>
              </a:rPr>
              <a:t>. The “</a:t>
            </a:r>
            <a:r>
              <a:rPr lang="en-US" altLang="zh-CN" sz="4000" dirty="0" err="1">
                <a:latin typeface="Times New Roman" panose="02020603050405020304" pitchFamily="18" charset="0"/>
                <a:cs typeface="Times New Roman" panose="02020603050405020304" pitchFamily="18" charset="0"/>
              </a:rPr>
              <a:t>ft</a:t>
            </a:r>
            <a:r>
              <a:rPr lang="en-US" altLang="zh-CN" sz="4000" dirty="0">
                <a:latin typeface="Times New Roman" panose="02020603050405020304" pitchFamily="18" charset="0"/>
                <a:cs typeface="Times New Roman" panose="02020603050405020304" pitchFamily="18" charset="0"/>
              </a:rPr>
              <a:t>” means the fine-tuning process. L-Dogs refers to the web dataset from </a:t>
            </a:r>
            <a:r>
              <a:rPr lang="en-US" altLang="zh-CN" sz="4000" dirty="0" err="1">
                <a:latin typeface="Times New Roman" panose="02020603050405020304" pitchFamily="18" charset="0"/>
                <a:cs typeface="Times New Roman" panose="02020603050405020304" pitchFamily="18" charset="0"/>
              </a:rPr>
              <a:t>Goldfince</a:t>
            </a:r>
            <a:r>
              <a:rPr lang="en-US" altLang="zh-CN" sz="4000" dirty="0">
                <a:latin typeface="Times New Roman" panose="02020603050405020304" pitchFamily="18" charset="0"/>
                <a:cs typeface="Times New Roman" panose="02020603050405020304" pitchFamily="18" charset="0"/>
              </a:rPr>
              <a:t> is used for boosting the performance of Stanford Dogs.</a:t>
            </a:r>
            <a:endParaRPr lang="zh-CN" altLang="en-US" sz="40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490657" y="33877733"/>
            <a:ext cx="7950000" cy="90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 name="Picture 2" descr="C:\Users\sxx\Desktop\3_副本.png">
            <a:extLst>
              <a:ext uri="{FF2B5EF4-FFF2-40B4-BE49-F238E27FC236}">
                <a16:creationId xmlns:a16="http://schemas.microsoft.com/office/drawing/2014/main" id="{DFD1787B-9B96-4DD3-930F-767ACA6544A4}"/>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r="63480"/>
          <a:stretch/>
        </p:blipFill>
        <p:spPr bwMode="auto">
          <a:xfrm>
            <a:off x="45938601" y="151145"/>
            <a:ext cx="2831509" cy="27990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53</TotalTime>
  <Words>570</Words>
  <Application>Microsoft Office PowerPoint</Application>
  <PresentationFormat>自定义</PresentationFormat>
  <Paragraphs>24</Paragraphs>
  <Slides>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Arial Black</vt:lpstr>
      <vt:lpstr>Calibri</vt:lpstr>
      <vt:lpstr>Calibri Light</vt:lpstr>
      <vt:lpstr>Cambria Math</vt:lpstr>
      <vt:lpstr>Times New Roman</vt:lpstr>
      <vt:lpstr>Wingdings</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zhangying</dc:creator>
  <cp:lastModifiedBy>小平 伍</cp:lastModifiedBy>
  <cp:revision>99</cp:revision>
  <dcterms:created xsi:type="dcterms:W3CDTF">2015-05-29T01:12:00Z</dcterms:created>
  <dcterms:modified xsi:type="dcterms:W3CDTF">2019-04-08T14:58:26Z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2052-11.1.0.8415</vt:lpwstr>
  </property>
</Properties>
</file>